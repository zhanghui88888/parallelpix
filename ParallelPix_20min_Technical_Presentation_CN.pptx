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6cdac23954b6f" /><Relationship Type="http://schemas.openxmlformats.org/officeDocument/2006/relationships/extended-properties" Target="/docProps/app.xml" Id="R4e951e8c95ea413d" /><Relationship Type="http://schemas.openxmlformats.org/officeDocument/2006/relationships/officeDocument" Target="/ppt/presentation.xml" Id="R2d520c12328e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2f099fce9f413c"/>
  </p:sldMasterIdLst>
  <p:notesMasterIdLst>
    <p:notesMasterId xmlns:r="http://schemas.openxmlformats.org/officeDocument/2006/relationships" r:id="R886b0fc2429f4958"/>
  </p:notesMasterIdLst>
  <p:sldIdLst>
    <p:sldId xmlns:r="http://schemas.openxmlformats.org/officeDocument/2006/relationships" id="256" r:id="Ra3a56e75d98a4bcb"/>
    <p:sldId xmlns:r="http://schemas.openxmlformats.org/officeDocument/2006/relationships" id="257" r:id="R8b58ddbaa90b44ad"/>
    <p:sldId xmlns:r="http://schemas.openxmlformats.org/officeDocument/2006/relationships" id="258" r:id="Rb572d4b1e16147f0"/>
    <p:sldId xmlns:r="http://schemas.openxmlformats.org/officeDocument/2006/relationships" id="259" r:id="R3667b050b4554a22"/>
    <p:sldId xmlns:r="http://schemas.openxmlformats.org/officeDocument/2006/relationships" id="260" r:id="Rcd1c2804b07444ca"/>
    <p:sldId xmlns:r="http://schemas.openxmlformats.org/officeDocument/2006/relationships" id="261" r:id="R3e410ea2ebf54c16"/>
    <p:sldId xmlns:r="http://schemas.openxmlformats.org/officeDocument/2006/relationships" id="262" r:id="R4a529c6f36dd492f"/>
    <p:sldId xmlns:r="http://schemas.openxmlformats.org/officeDocument/2006/relationships" id="263" r:id="Ra46a8752161942fb"/>
    <p:sldId xmlns:r="http://schemas.openxmlformats.org/officeDocument/2006/relationships" id="264" r:id="Re31435b591884910"/>
    <p:sldId xmlns:r="http://schemas.openxmlformats.org/officeDocument/2006/relationships" id="265" r:id="Ra7e55209fb3344ab"/>
    <p:sldId xmlns:r="http://schemas.openxmlformats.org/officeDocument/2006/relationships" id="266" r:id="Re25d18d38aa242b0"/>
    <p:sldId xmlns:r="http://schemas.openxmlformats.org/officeDocument/2006/relationships" id="267" r:id="R0a7d30ea520144f6"/>
    <p:sldId xmlns:r="http://schemas.openxmlformats.org/officeDocument/2006/relationships" id="268" r:id="R296d1e97fc484a21"/>
    <p:sldId xmlns:r="http://schemas.openxmlformats.org/officeDocument/2006/relationships" id="269" r:id="R58b389e82b8a40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6deda13d784e43" /><Relationship Type="http://schemas.openxmlformats.org/officeDocument/2006/relationships/slideMaster" Target="/ppt/slideMasters/slideMaster1.xml" Id="R2c2f099fce9f413c" /><Relationship Type="http://schemas.openxmlformats.org/officeDocument/2006/relationships/notesMaster" Target="/ppt/notesMasters/notesMaster1.xml" Id="R886b0fc2429f4958" /><Relationship Type="http://schemas.openxmlformats.org/officeDocument/2006/relationships/presProps" Target="/ppt/presProps.xml" Id="Rbcb8e988a8a94103" /><Relationship Type="http://schemas.openxmlformats.org/officeDocument/2006/relationships/tableStyles" Target="/ppt/tableStyles.xml" Id="R0328ad8a88254b69" /><Relationship Type="http://schemas.openxmlformats.org/officeDocument/2006/relationships/slide" Target="/ppt/slides/slide1.xml" Id="Ra3a56e75d98a4bcb" /><Relationship Type="http://schemas.openxmlformats.org/officeDocument/2006/relationships/slide" Target="/ppt/slides/slide2.xml" Id="R8b58ddbaa90b44ad" /><Relationship Type="http://schemas.openxmlformats.org/officeDocument/2006/relationships/slide" Target="/ppt/slides/slide3.xml" Id="Rb572d4b1e16147f0" /><Relationship Type="http://schemas.openxmlformats.org/officeDocument/2006/relationships/slide" Target="/ppt/slides/slide4.xml" Id="R3667b050b4554a22" /><Relationship Type="http://schemas.openxmlformats.org/officeDocument/2006/relationships/slide" Target="/ppt/slides/slide5.xml" Id="Rcd1c2804b07444ca" /><Relationship Type="http://schemas.openxmlformats.org/officeDocument/2006/relationships/slide" Target="/ppt/slides/slide6.xml" Id="R3e410ea2ebf54c16" /><Relationship Type="http://schemas.openxmlformats.org/officeDocument/2006/relationships/slide" Target="/ppt/slides/slide7.xml" Id="R4a529c6f36dd492f" /><Relationship Type="http://schemas.openxmlformats.org/officeDocument/2006/relationships/slide" Target="/ppt/slides/slide8.xml" Id="Ra46a8752161942fb" /><Relationship Type="http://schemas.openxmlformats.org/officeDocument/2006/relationships/slide" Target="/ppt/slides/slide9.xml" Id="Re31435b591884910" /><Relationship Type="http://schemas.openxmlformats.org/officeDocument/2006/relationships/slide" Target="/ppt/slides/slide10.xml" Id="Ra7e55209fb3344ab" /><Relationship Type="http://schemas.openxmlformats.org/officeDocument/2006/relationships/slide" Target="/ppt/slides/slide11.xml" Id="Re25d18d38aa242b0" /><Relationship Type="http://schemas.openxmlformats.org/officeDocument/2006/relationships/slide" Target="/ppt/slides/slide12.xml" Id="R0a7d30ea520144f6" /><Relationship Type="http://schemas.openxmlformats.org/officeDocument/2006/relationships/slide" Target="/ppt/slides/slide13.xml" Id="R296d1e97fc484a21" /><Relationship Type="http://schemas.openxmlformats.org/officeDocument/2006/relationships/slide" Target="/ppt/slides/slide14.xml" Id="R58b389e82b8a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7210d7e12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47afdc078450e" /><Relationship Type="http://schemas.openxmlformats.org/officeDocument/2006/relationships/notesMaster" Target="/ppt/notesMasters/notesMaster1.xml" Id="R8301542e4a7a44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7dc731aab94265" /><Relationship Type="http://schemas.openxmlformats.org/officeDocument/2006/relationships/notesMaster" Target="/ppt/notesMasters/notesMaster1.xml" Id="Rb1343dfbc89f46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7ccdd85574c02" /><Relationship Type="http://schemas.openxmlformats.org/officeDocument/2006/relationships/notesMaster" Target="/ppt/notesMasters/notesMaster1.xml" Id="R938785d4328645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5af66e5a714169" /><Relationship Type="http://schemas.openxmlformats.org/officeDocument/2006/relationships/notesMaster" Target="/ppt/notesMasters/notesMaster1.xml" Id="Rdcec40915a324f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87a25f4af64428" /><Relationship Type="http://schemas.openxmlformats.org/officeDocument/2006/relationships/notesMaster" Target="/ppt/notesMasters/notesMaster1.xml" Id="Rffe18891c4834c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2b7e33e3f44b1c" /><Relationship Type="http://schemas.openxmlformats.org/officeDocument/2006/relationships/notesMaster" Target="/ppt/notesMasters/notesMaster1.xml" Id="R3df56cc14efe4b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0f65c6c83c4356" /><Relationship Type="http://schemas.openxmlformats.org/officeDocument/2006/relationships/notesMaster" Target="/ppt/notesMasters/notesMaster1.xml" Id="R253e73395bad46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f2bd6b0d04f41" /><Relationship Type="http://schemas.openxmlformats.org/officeDocument/2006/relationships/notesMaster" Target="/ppt/notesMasters/notesMaster1.xml" Id="R79f8b5e226d24a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8a6e4c6cba4446" /><Relationship Type="http://schemas.openxmlformats.org/officeDocument/2006/relationships/notesMaster" Target="/ppt/notesMasters/notesMaster1.xml" Id="R9ae52ac0148f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7a28f883d5492d" /><Relationship Type="http://schemas.openxmlformats.org/officeDocument/2006/relationships/notesMaster" Target="/ppt/notesMasters/notesMaster1.xml" Id="Rc22431435e6647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9a27fbd3c64bd7" /><Relationship Type="http://schemas.openxmlformats.org/officeDocument/2006/relationships/notesMaster" Target="/ppt/notesMasters/notesMaster1.xml" Id="Re8d7f21065ec49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a85384375840c0" /><Relationship Type="http://schemas.openxmlformats.org/officeDocument/2006/relationships/notesMaster" Target="/ppt/notesMasters/notesMaster1.xml" Id="Re460c9b7034246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189fc431784ca2" /><Relationship Type="http://schemas.openxmlformats.org/officeDocument/2006/relationships/notesMaster" Target="/ppt/notesMasters/notesMaster1.xml" Id="Rb6e7f188d58449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03ee8fe1834e46" /><Relationship Type="http://schemas.openxmlformats.org/officeDocument/2006/relationships/notesMaster" Target="/ppt/notesMasters/notesMaster1.xml" Id="Rbef41e84c8ba48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开场一句话：ParallelPix 不是普通图片工具，而是一个可验证的并行计算实验平台。我们让三种后端执行完全相同的像素语义，再比较正确性、计算时间和端到端收益。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D:\Programming\MS3\ParallelPix\docs\design\项目需求文档.md</a:t>
            </a:r>
          </a:p>
          <a:p xmlns:a="http://schemas.openxmlformats.org/drawingml/2006/main">
            <a:r>
              <a:t>- D:\Programming\MS3\ParallelPix\docs\tech\技术架构文档.md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先建立研究问题：单核 CPU、多核 CPU 和 GPU 的收益，不是固定答案。它取决于批次规模、任务粒度，以及数据从主机搬到设备的成本。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D:\Programming\MS3\ParallelPix\docs\design\项目需求文档.md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这里强调公平性：OpenCV 只负责读取和写出；核心像素算法在三个后端中保持同一语义。这样测到的差异来自执行方式，而不是不同算法。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D:\Programming\MS3\ParallelPix\docs\design\M3图片数据IO设计.md</a:t>
            </a:r>
          </a:p>
          <a:p xmlns:a="http://schemas.openxmlformats.org/drawingml/2006/main">
            <a:r>
              <a:t>- D:\Programming\MS3\ParallelPix\docs\design\M4公共处理模型与Sequential设计.md</a:t>
            </a:r>
          </a:p>
          <a:p xmlns:a="http://schemas.openxmlformats.org/drawingml/2006/main">
            <a:r>
              <a:t>- D:\Programming\MS3\ParallelPix\docs\design\M7验证与Benchmark设计.md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架构重点是依赖倒置。Controller 只依赖统一后端接口；每个后端声明 availability 并返回统一执行结果。CUDA 的阶段时间和实际 batch 是扩展字段，不侵入公共算法。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D:\Programming\MS3\ParallelPix\include\parallelpix\benchmark\backend.hpp</a:t>
            </a:r>
          </a:p>
          <a:p xmlns:a="http://schemas.openxmlformats.org/drawingml/2006/main">
            <a:r>
              <a:t>- D:\Programming\MS3\ParallelPix\src\pipeline\benchmark_pipeline.cpp</a:t>
            </a:r>
          </a:p>
          <a:p xmlns:a="http://schemas.openxmlformats.org/drawingml/2006/main">
            <a:r>
              <a:t>- D:\Programming\MS3\ParallelPix\docs\tech\技术架构文档.md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这页要把“快但错等于无效”讲透。OpenMP 复用相同运算顺序且没有浮点归约，所以要求完全一致；CUDA 允许每通道最多 1 的误差。验证失败仍保留记录，但 speedup 和 efficiency 留空。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D:\Programming\MS3\ParallelPix\docs\design\M4公共处理模型与Sequential设计.md</a:t>
            </a:r>
          </a:p>
          <a:p xmlns:a="http://schemas.openxmlformats.org/drawingml/2006/main">
            <a:r>
              <a:t>- D:\Programming\MS3\ParallelPix\docs\design\M7验证与Benchmark设计.md</a:t>
            </a:r>
          </a:p>
          <a:p xmlns:a="http://schemas.openxmlformats.org/drawingml/2006/main">
            <a:r>
              <a:t>- D:\Programming\MS3\ParallelPix\src\benchmark\runner\experiment.cpp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讲两条真实指令：图片级使用 #pragma omp parallel for schedule(dynamic,1)，行级使用 schedule(static)。dynamic 解决图片负载不均，但有调度成本；static 适合均匀的输出行。关键是根据批次与线程数先选粒度，而不是同时嵌套两层并行。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D:\Programming\MS3\ParallelPix\src\openmp\scheduling\scheduling.cpp</a:t>
            </a:r>
          </a:p>
          <a:p xmlns:a="http://schemas.openxmlformats.org/drawingml/2006/main">
            <a:r>
              <a:t>- D:\Programming\MS3\ParallelPix\src\openmp\processor\processor.cpp</a:t>
            </a:r>
          </a:p>
          <a:p xmlns:a="http://schemas.openxmlformats.org/drawingml/2006/main">
            <a:r>
              <a:t>- D:\Programming\MS3\ParallelPix\src\openmp\processor\process_image.cpp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先读蓝线与理想线的差距。8 线程 S=5.343，E=S/8=0.668。用 Amdahl 反推，有效串行部分加并行开销约 7.1%。1 线程 OpenMP 只有 0.922×，也证明进入并行区与调度不是免费的。注意样本只有 6 张，不能把这个效率外推到大规模。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D:\Programming\MS3\ParallelPix\docs\test\M5 OpenMP后端测试.md</a:t>
            </a:r>
          </a:p>
          <a:p xmlns:a="http://schemas.openxmlformats.org/drawingml/2006/main">
            <a:r>
              <a:t>- D:\Programming\MS3\ParallelPix\results\benchmark.csv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GPU 的收益不只是线程多。融合 Kernel 避免把 resize、brightness、watermark 的中间图反复写回全局显存。连续打包减少碎片和多次拷贝；单 stream 是有意保留的清晰基线。OOM 回退会丢弃失败轨迹，减半 batch 后从头重试一次。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D:\Programming\MS3\ParallelPix\src\cuda\kernels\process_batch.cu</a:t>
            </a:r>
          </a:p>
          <a:p xmlns:a="http://schemas.openxmlformats.org/drawingml/2006/main">
            <a:r>
              <a:t>- D:\Programming\MS3\ParallelPix\src\cuda\processor\batch_executor.cpp</a:t>
            </a:r>
          </a:p>
          <a:p xmlns:a="http://schemas.openxmlformats.org/drawingml/2006/main">
            <a:r>
              <a:t>- D:\Programming\MS3\ParallelPix\src\cuda\processor\processor.cpp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不能拿 7.44 ms 的 Kernel 时间直接和 CPU wall-clock 比。合法比较是完整 compute=26.71 ms。事件计时之和仍小于 compute，差额约 41%，说明主机端准备和对象恢复不可忽略。这个 CUDA 数据来自历史目标机实测，当前工作区是 CPU-only 构建。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D:\Programming\MS3\ParallelPix\docs\test\M6 CUDA后端测试.md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强调三种计时域不能混用：compute、end-to-end、CUDA Event 分阶段。正式结果取 median 抗抖动，同时保留 min/max/stddev。speedup 只能引用同一 run、同一图片规模且验证通过的 Sequential；仪表板完全在计时之外。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D:\Programming\MS3\ParallelPix\src\benchmark\runner\experiment.cpp</a:t>
            </a:r>
          </a:p>
          <a:p xmlns:a="http://schemas.openxmlformats.org/drawingml/2006/main">
            <a:r>
              <a:t>- D:\Programming\MS3\ParallelPix\docs\design\M7验证与Benchmark设计.md</a:t>
            </a:r>
          </a:p>
          <a:p xmlns:a="http://schemas.openxmlformats.org/drawingml/2006/main">
            <a:r>
              <a:t>- D:\Programming\MS3\ParallelPix\docs\tech\技术架构文档.md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这里要主动说明边界：OpenMP 与 CUDA 性能来自不同轮次和数据规模，所以不能拼成“CUDA 比 OpenMP 快多少”的总排名。我们可以证明各自能加速，但最终三方结论必须来自统一实验。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D:\Programming\MS3\ParallelPix\docs\plan\开发计划.md</a:t>
            </a:r>
          </a:p>
          <a:p xmlns:a="http://schemas.openxmlformats.org/drawingml/2006/main">
            <a:r>
              <a:t>- D:\Programming\MS3\ParallelPix\docs\test\M5 OpenMP后端测试.md</a:t>
            </a:r>
          </a:p>
          <a:p xmlns:a="http://schemas.openxmlformats.org/drawingml/2006/main">
            <a:r>
              <a:t>- D:\Programming\MS3\ParallelPix\docs\test\M6 CUDA后端测试.md</a:t>
            </a:r>
          </a:p>
          <a:p xmlns:a="http://schemas.openxmlformats.org/drawingml/2006/main">
            <a:r>
              <a:t>- D:\Programming\MS3\ParallelPix\docs\test\M7验证与Benchmark测试.md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这是技术取舍而不是缺功能。图片确实可以跨节点分片，但网络、序列化、分布式存储与容错会引入新的变量。当前课程要求至少两种组件，Sequential + OpenMP + CUDA 已能回答单机计算位置的核心问题。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D:\Programming\MS3\ParallelPix\项目要求.md</a:t>
            </a:r>
          </a:p>
          <a:p xmlns:a="http://schemas.openxmlformats.org/drawingml/2006/main">
            <a:r>
              <a:t>- D:\Programming\MS3\ParallelPix\docs\tech\技术架构文档.md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讲完整闭环，不要只展示静态图。Local CLI 选择当前 CPU-only 可执行文件，选 Sequential + OpenMP、2/4/6 张图和 1/2/4/8 线程；运行后看新增 run_id、validation_passed、speedup，以及 compute 和 end-to-end 的差异。如果现场环境不稳定，可切 Demo 模式，但必须说明它不是本机实测。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D:\Programming\MS3\ParallelPix\tools\parallelpix_dashboard\page.py</a:t>
            </a:r>
          </a:p>
          <a:p xmlns:a="http://schemas.openxmlformats.org/drawingml/2006/main">
            <a:r>
              <a:t>- D:\Programming\MS3\ParallelPix\tools\parallelpix_dashboard\runners.py</a:t>
            </a:r>
          </a:p>
          <a:p xmlns:a="http://schemas.openxmlformats.org/drawingml/2006/main">
            <a:r>
              <a:t>- D:\Programming\MS3\ParallelPix\tools\parallelpix_dashboard\views.py</a:t>
            </a:r>
          </a:p>
          <a:p xmlns:a="http://schemas.openxmlformats.org/drawingml/2006/main">
            <a:r>
              <a:t>- D:\Programming\MS3\ParallelPix\docs\test\screenshots\m1-implementation-en-demo-final-1440x1024.png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收束：ParallelPix 的贡献不是某个最大 speedup 数字，而是把正确性、加速、开销和适用边界放进同一个可复现实验。M8 Hybrid 是下一步假设，不预设一定更快，因为 CPU/GPU 可能竞争内存带宽和 I/O。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D:\Programming\MS3\ParallelPix\docs\design\M8 CPU-GPU混合后端设计.md</a:t>
            </a:r>
          </a:p>
          <a:p xmlns:a="http://schemas.openxmlformats.org/drawingml/2006/main">
            <a:r>
              <a:t>- D:\Programming\MS3\ParallelPix\docs\plan\开发计划.md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9c4711705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67a55fb6d64485" /><Relationship Type="http://schemas.openxmlformats.org/officeDocument/2006/relationships/slideLayout" Target="/ppt/slideLayouts/slideLayout1.xml" Id="Re30dd8035d3d45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dd8035d3d45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6fcb185e4490c" /><Relationship Type="http://schemas.openxmlformats.org/officeDocument/2006/relationships/notesSlide" Target="/ppt/notesSlides/notesSlide1.xml" Id="Rce9d71361242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3b8cc5143405e" /><Relationship Type="http://schemas.openxmlformats.org/officeDocument/2006/relationships/notesSlide" Target="/ppt/notesSlides/notesSlide2.xml" Id="Rf8cc8e9e4d92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9522e04e74b73" /><Relationship Type="http://schemas.openxmlformats.org/officeDocument/2006/relationships/notesSlide" Target="/ppt/notesSlides/notesSlide3.xml" Id="R08c97e45d3b6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84458d9345d4" /><Relationship Type="http://schemas.openxmlformats.org/officeDocument/2006/relationships/notesSlide" Target="/ppt/notesSlides/notesSlide4.xml" Id="R1341f5b095a84a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56d56ddcc41ed" /><Relationship Type="http://schemas.openxmlformats.org/officeDocument/2006/relationships/notesSlide" Target="/ppt/notesSlides/notesSlide5.xml" Id="Raaffb0efd6a741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33610ddd44285" /><Relationship Type="http://schemas.openxmlformats.org/officeDocument/2006/relationships/notesSlide" Target="/ppt/notesSlides/notesSlide6.xml" Id="Rba261afe36aa4c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453cecc724886" /><Relationship Type="http://schemas.openxmlformats.org/officeDocument/2006/relationships/chart" Target="/ppt/slides/charts/chart1.xml" Id="R37a6de37965b4249" /><Relationship Type="http://schemas.openxmlformats.org/officeDocument/2006/relationships/notesSlide" Target="/ppt/notesSlides/notesSlide7.xml" Id="Ref8770cb7f074f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106d8dbe546c6" /><Relationship Type="http://schemas.openxmlformats.org/officeDocument/2006/relationships/notesSlide" Target="/ppt/notesSlides/notesSlide8.xml" Id="R6c15f483b229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b581928694eac" /><Relationship Type="http://schemas.openxmlformats.org/officeDocument/2006/relationships/chart" Target="/ppt/slides/charts/chart2.xml" Id="Rc639f212736a4047" /><Relationship Type="http://schemas.openxmlformats.org/officeDocument/2006/relationships/notesSlide" Target="/ppt/notesSlides/notesSlide9.xml" Id="R2f0ea3a886cd41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0552404d44b8f" /><Relationship Type="http://schemas.openxmlformats.org/officeDocument/2006/relationships/notesSlide" Target="/ppt/notesSlides/notesSlide10.xml" Id="Rac1481e7d01043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960f90b174bf0" /><Relationship Type="http://schemas.openxmlformats.org/officeDocument/2006/relationships/notesSlide" Target="/ppt/notesSlides/notesSlide11.xml" Id="R05bbfe785f434d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22944786142bd" /><Relationship Type="http://schemas.openxmlformats.org/officeDocument/2006/relationships/notesSlide" Target="/ppt/notesSlides/notesSlide12.xml" Id="Rf526dde7b29442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56cd6aff842cc" /><Relationship Type="http://schemas.openxmlformats.org/officeDocument/2006/relationships/image" Target="/ppt/media/image.jpeg" Id="Rc4b5b89ab4cc4ea3" /><Relationship Type="http://schemas.openxmlformats.org/officeDocument/2006/relationships/notesSlide" Target="/ppt/notesSlides/notesSlide13.xml" Id="R58a4c11e7a6b45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13522bc204c84" /><Relationship Type="http://schemas.openxmlformats.org/officeDocument/2006/relationships/notesSlide" Target="/ppt/notesSlides/notesSlide14.xml" Id="R7e57a46f6ec6476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Measured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1 thread</c:v>
              </c:pt>
              <c:pt idx="1">
                <c:v>2 threads</c:v>
              </c:pt>
              <c:pt idx="2">
                <c:v>4 threads</c:v>
              </c:pt>
              <c:pt idx="3">
                <c:v>8 threads</c:v>
              </c:pt>
            </c:strLit>
          </c:cat>
          <c:val>
            <c:numLit>
              <c:formatCode>General</c:formatCode>
              <c:ptCount val="4"/>
              <c:pt idx="0">
                <c:v>0.922</c:v>
              </c:pt>
              <c:pt idx="1">
                <c:v>1.638</c:v>
              </c:pt>
              <c:pt idx="2">
                <c:v>2.537</c:v>
              </c:pt>
              <c:pt idx="3">
                <c:v>5.343</c:v>
              </c:pt>
            </c:numLit>
          </c:val>
        </c:ser>
        <c:ser>
          <c:idx val="1"/>
          <c:order val="1"/>
          <c:tx>
            <c:v>Ideal</c:v>
          </c:tx>
          <c:spPr>
            <a:ln xmlns:a="http://schemas.openxmlformats.org/drawingml/2006/main" w="28575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1 thread</c:v>
              </c:pt>
              <c:pt idx="1">
                <c:v>2 threads</c:v>
              </c:pt>
              <c:pt idx="2">
                <c:v>4 threads</c:v>
              </c:pt>
              <c:pt idx="3">
                <c:v>8 threads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H2D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1"/>
              <c:pt idx="0">
                <c:v>8 images</c:v>
              </c:pt>
            </c:strLit>
          </c:cat>
          <c:val>
            <c:numLit>
              <c:formatCode>General</c:formatCode>
              <c:ptCount val="1"/>
              <c:pt idx="0">
                <c:v>5.1865</c:v>
              </c:pt>
            </c:numLit>
          </c:val>
        </c:ser>
        <c:ser>
          <c:idx val="1"/>
          <c:order val="1"/>
          <c:tx>
            <c:v>Kernel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1"/>
              <c:pt idx="0">
                <c:v>8 images</c:v>
              </c:pt>
            </c:strLit>
          </c:cat>
          <c:val>
            <c:numLit>
              <c:formatCode>General</c:formatCode>
              <c:ptCount val="1"/>
              <c:pt idx="0">
                <c:v>7.4422</c:v>
              </c:pt>
            </c:numLit>
          </c:val>
        </c:ser>
        <c:ser>
          <c:idx val="2"/>
          <c:order val="2"/>
          <c:tx>
            <c:v>D2H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1"/>
              <c:pt idx="0">
                <c:v>8 images</c:v>
              </c:pt>
            </c:strLit>
          </c:cat>
          <c:val>
            <c:numLit>
              <c:formatCode>General</c:formatCode>
              <c:ptCount val="1"/>
              <c:pt idx="0">
                <c:v>3.1532</c:v>
              </c:pt>
            </c:numLit>
          </c:val>
        </c:ser>
        <c:ser>
          <c:idx val="3"/>
          <c:order val="3"/>
          <c:tx>
            <c:v>Host + other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1"/>
              <c:pt idx="0">
                <c:v>8 images</c:v>
              </c:pt>
            </c:strLit>
          </c:cat>
          <c:val>
            <c:numLit>
              <c:formatCode>General</c:formatCode>
              <c:ptCount val="1"/>
              <c:pt idx="0">
                <c:v>10.9297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898A494-74F6-4BDB-9723-4E141FA1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ParallelPix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A8BF628-EA3F-4147-AD2B-302335B3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同一批商品图，三种计算路径
Sequential · OpenMP · CUDA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6837FE8-C32C-45EB-AE33-2404BE66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PARALLEL COMPUTING · IMAGE PIPELINE</a:t>
            </a:r>
          </a:p>
        </p:txBody>
      </p:sp>
    </p:spTree>
    <p:extLst>
      <p:ext uri="{BB962C8B-B14F-4D97-AF65-F5344CB8AC3E}">
        <p14:creationId xmlns:p14="http://schemas.microsoft.com/office/powerpoint/2010/main" val="1266363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F6B5B6A-C643-4E06-97C3-244DDC0B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072A948-EC81-4B68-9B2C-C265B1D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问题不在能否处理，而在何处处理最划算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CA4EFC1-E410-46CC-A331-FE34274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476E8F5-4EF1-4535-A0AF-E0F5249C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65BFA82-B5CB-4C77-A895-0A75315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独立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图片之间、输出像素之间几乎没有数据依赖。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3FFD926-6BB0-40FE-9AA5-03FF2C25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规模、线程、batch 与传输开销都能形成实验矩阵。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C6B4140-E931-4F02-9C9F-3C3E34F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B0ABA1D-AC77-4017-9889-C5C248F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E4D5DA0-8EE7-4392-8DA1-25EB09B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A973A11-2B93-4521-8EDE-BC618B62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重复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每张图片执行同一条处理流水线。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63B3C62-A5FF-4321-8AC0-D2267913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20CEBE41-4BA5-4B5E-9F45-16C886B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批量商品图标准化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中心裁剪、双线性缩放、亮度调整和水印合成反复作用于大量像素。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输出固定为 1024×1024，输入尺寸和内容各不相同。</a:t>
            </a:r>
          </a:p>
        </p:txBody>
      </p:sp>
    </p:spTree>
    <p:extLst>
      <p:ext uri="{BB962C8B-B14F-4D97-AF65-F5344CB8AC3E}">
        <p14:creationId xmlns:p14="http://schemas.microsoft.com/office/powerpoint/2010/main" val="6752270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763C83D-E93D-4A32-A59C-15A0CD0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3E8BA09-AC1D-42F5-B4BB-B63E876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一条统一流水线，把性能差异限制在计算后端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774721C-968D-42C4-8907-D4F476C3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67A1486-9488-4440-97AC-D4B2332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940CF26-5B9D-4BE9-9668-8BE1D8E6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5FDA892-EC6E-4958-909D-EB0672B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INGEST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2418028-CEFE-4BD5-A5CB-F78A370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COMPUTE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317FF0C-A980-4540-9512-913A90CD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4B48723-F81D-41FD-BED3-B72620E1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统一像素语义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中心裁剪 → 双线性缩放
亮度 → 水印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B9E182E-099D-4C53-9940-DA3A3533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稳定输入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扫描 → 排序 → 解码
坏图跳过，BGR 连续存储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F56B838-02F8-4992-93F6-71DBCDF4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验证与报告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PNG 回读验证
统计 → 原子 CSV → Dashboard</a:t>
            </a:r>
          </a:p>
        </p:txBody>
      </p:sp>
    </p:spTree>
    <p:extLst>
      <p:ext uri="{BB962C8B-B14F-4D97-AF65-F5344CB8AC3E}">
        <p14:creationId xmlns:p14="http://schemas.microsoft.com/office/powerpoint/2010/main" val="17364193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07E6611-76B4-4A2D-AF3A-C4128925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3C2E11D-D17D-45B0-9D44-F12AE3D5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Controller 只编排一次，Sequential / OpenMP / CUDA 可以替换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9AF6B4E-909C-4318-B11D-5E61376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175C9E5-9915-431A-8B6C-57160B12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4581BFF-6437-4351-9672-0D61861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C9E2326-39ED-4835-A50E-BD7EF240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C9036C3-BBA4-4476-BDC0-0D8D23A8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M1 + M2 + M3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Dashboard / CLI / Controller
输入、计划、日志和退出码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2699670-FF69-416A-85E8-1916805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1DF89BAF-C7C4-40FF-9F2B-2215235E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IBackendExecutor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M4 Sequential
M5 OpenMP
M6 CUDA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1D696F60-092A-4BCC-8619-0C800ED7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64E25E4-E7E6-4A7E-BABE-0AF73C0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M7 Benchmark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验证门禁、分层计时、统计
27 列 CSV 回流 M1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844DE53-26FC-4494-9074-540A227D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BACKENDS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2F876F39-AE7F-4D10-A880-821D22B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3283B9A-FE7F-4717-A571-F041C359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6782695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7119590-0DD5-4AB6-A621-272F424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202DD42-82EA-42EF-962F-CF91F639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先锁定语义，再讨论速度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5280DF6-9688-463B-AA2F-31CAAD43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2B970E3-B3FF-4BC1-ACA5-4A2509D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OpenMP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5C632D5-1786-46D2-87A7-7C02E6CF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逐像素 exact match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max error = 0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不做浮点归约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9B53597-12B3-452C-927E-3019256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167E9A4-ABEF-458A-9165-A7487F4D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CUDA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44A78A5-A3E7-46B2-A94E-EC8D26B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每通道误差 ≤ 1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结构错误单独报告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失败记录不发布 speedup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48EED89-ED4F-4726-853A-CA7D9670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Sequential 是语义 Oracle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同一 crop、采样、舍入、brightness 和 alpha blend 规则。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速度指标只有在验证通过后才有意义。</a:t>
            </a:r>
          </a:p>
        </p:txBody>
      </p:sp>
    </p:spTree>
    <p:extLst>
      <p:ext uri="{BB962C8B-B14F-4D97-AF65-F5344CB8AC3E}">
        <p14:creationId xmlns:p14="http://schemas.microsoft.com/office/powerpoint/2010/main" val="157629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9888530-B2E2-45EE-9FBD-9E9C5BB2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DFA108C-717D-45C5-8D5E-4872180F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技术深挖①：OpenMP 的关键不是 pragma，而是并行粒度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74CA3D6-6ED2-47EE-AAE2-54AD1DB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图片级 · dynamic(1)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image_count ≥ threads
不同分辨率动态负载均衡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6BEB38C-07A3-4018-AEE8-CD88CC9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行级 · static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小批次按输出行分工
避免核心因图片不足而空闲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934D6E-A47A-4553-9164-F34257C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不嵌套并行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每次只选择一种粒度
避免 oversubscription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5D77735-114E-49F9-B8FB-41D6F25E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确定性写入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预分配输出；线程写不同图或不同的行，无像素锁</a:t>
            </a:r>
          </a:p>
        </p:txBody>
      </p:sp>
    </p:spTree>
    <p:extLst>
      <p:ext uri="{BB962C8B-B14F-4D97-AF65-F5344CB8AC3E}">
        <p14:creationId xmlns:p14="http://schemas.microsoft.com/office/powerpoint/2010/main" val="19638656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67CC2D1-1861-4BB7-AC1F-C5769AB5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63E59E8-7340-416B-A264-AC0CC26B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 线程得到 5.34×：效率下降本身就是结果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D109F182-C5C5-4E67-B4D8-2DDF099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BC9F8614-1255-42CC-ADC2-63A0C39E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5.34×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E727E35-FAAB-483E-8377-6745EDCB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实测加速比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C8442678-AA7A-4407-B816-0DC2947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22580871-4777-4C6D-8A4F-AE70AE3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66.8%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E6E9898-CA6D-413C-B6B7-60719B62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并行效率 E=S/N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40E4EA88-F318-481D-AF16-BF9E8B0A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 张真实商品图 · compute 679.50 → 127.16 ms · pixel error = 0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a6de37965b4249"/>
          </a:graphicData>
        </a:graphic>
      </p:graphicFrame>
    </p:spTree>
    <p:extLst>
      <p:ext uri="{BB962C8B-B14F-4D97-AF65-F5344CB8AC3E}">
        <p14:creationId xmlns:p14="http://schemas.microsoft.com/office/powerpoint/2010/main" val="13852386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EA9DA19-98AB-4CA9-895C-30BB532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A5EC5B2-A2C7-49F9-841A-6010B83A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技术深挖②：CUDA 用融合 Kernel 减少全局内存往返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1350F6F1-C252-4431-9934-C12898F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变长 BGR 连续打包 + descriptor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0CE2170-47A6-43B0-83C2-713C472C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95690412-6A70-444D-BDDA-143B479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resize + brightness + watermark 融合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672B6F1-6C1E-40A5-BA0A-ABFDB581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KERNEL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6975405-5316-4799-95A2-23A5552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单 stream：H2D → Kernel → D2H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F821F34E-CFB0-4F4F-BC52-08023424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TIMING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1BBA152-0987-4EE2-B5B2-71FFFEDB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164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OOM 时 batch 减半，从头仅重试一次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7DAC1ADE-1858-426D-9E6B-F19216A9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RESILIENCE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02D6A0B2-43B3-4DD3-AD50-DBD6F1A8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一个线程，一个输出像素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16×16 block；grid.x/y 覆盖输出平面，grid.z 选择图片。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每线程完成三通道双线性采样、亮度和水印混合。</a:t>
            </a:r>
          </a:p>
        </p:txBody>
      </p:sp>
    </p:spTree>
    <p:extLst>
      <p:ext uri="{BB962C8B-B14F-4D97-AF65-F5344CB8AC3E}">
        <p14:creationId xmlns:p14="http://schemas.microsoft.com/office/powerpoint/2010/main" val="20629500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B58038F-CBCA-452C-B83A-90578136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7D1CAA9-289B-4810-84AA-7108E30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GPU Kernel 只占 compute 的一部分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D13BA29-827B-40EB-9267-710049B0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14.63×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C4B18887-8413-41EA-AF21-A793048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相对同轮 Sequential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3E07BE0-FA9A-49CC-91D4-FE4CE28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41%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F4ADE6D2-DAF3-42FD-AAE9-EF9D86E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Host + other 占 compute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B693E034-FCA4-449D-A94C-F7A56CA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63EEF333-7F4A-4C82-A3F8-8A25D5A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RTX 5070 Ti Laptop · 8 images · batch 8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compute = 26.71 ms；H2D + Kernel + D2H = 15.78 ms。剩余约 10.93 ms 来自主机打包、恢复和调用开销。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39f212736a4047"/>
          </a:graphicData>
        </a:graphic>
      </p:graphicFrame>
    </p:spTree>
    <p:extLst>
      <p:ext uri="{BB962C8B-B14F-4D97-AF65-F5344CB8AC3E}">
        <p14:creationId xmlns:p14="http://schemas.microsoft.com/office/powerpoint/2010/main" val="12514505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F433314-ECFC-4052-82F8-2599E49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A15AB57-F0C6-42EC-9E07-8110C92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技术深挖③：公平 Benchmark 是系统的一部分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BB04723-D416-46AA-9AD8-501EF0B1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同输入、同语义、同构建、同计时边界，先验证再计算 speedup。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06E36F0-EEF1-4B92-BB8F-1A19007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构建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D1DB6ACC-44FE-41BE-A02E-49AD5B41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529B722C-FAE3-4C9E-B651-DD74A7C0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compute_ms：后端计算主体；CPU 用 steady_clock，CUDA Event 仅拆分设备阶段。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end_to_end_ms：扫描、解码、计算、编码；验证与 CSV 写入排除。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54B4169-BCD4-4A16-A6EC-DE65BFE6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次 warmup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9DCBB1E-5372-400A-95B2-08DEDECF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5F97175-8E70-4221-9EAC-92DD558D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 5 次正式重复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22D83C5C-6634-426F-991F-D813514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EF17FF13-9B25-4AB3-B6C4-8599264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median + min/max/stddev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C5891E4D-93E9-499A-A9AB-A9451478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12102667-5882-4293-BD56-C2BE256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3086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同规模有效 Sequential 才算 speedup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EE4DEB01-CF09-4D8A-BDDF-26BA46DD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716243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FE3EBEF-86B6-4ACC-9333-AFAD5395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403A5E-18DE-4A70-9C74-909891D2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现有证据证明能加速，三方总排名仍需统一实验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F406C1D-3543-4DC8-983D-439C8C3B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FAF1FEC-308B-44F8-8240-26FAE584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已证实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52F31B3-F7A1-44D8-BFC6-99645B6D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M5：15/15 CLI 配置通过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OpenMP pixel error = 0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M6：真机 10/10 + sanitizer 0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1742018-2975-4BEC-BD15-BD06E13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216875A-458A-45A6-9475-55043E70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待收口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E059135-2E5A-48B9-B071-21F0F3F7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M5 + M6 + M7 统一构建回归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10/50/100 或 1000 图矩阵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同一 run 的三后端对比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963FDBD-E91F-42A8-AAFD-9920CFCB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证据状态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M1–M7 的功能链路已基本闭环。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最终结论仍需同机、同数据集、同一 Release 运行。</a:t>
            </a:r>
          </a:p>
        </p:txBody>
      </p:sp>
    </p:spTree>
    <p:extLst>
      <p:ext uri="{BB962C8B-B14F-4D97-AF65-F5344CB8AC3E}">
        <p14:creationId xmlns:p14="http://schemas.microsoft.com/office/powerpoint/2010/main" val="2146742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C757D8B-6337-4795-8117-15521AF1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834E089-4F59-4329-A6E0-18EEBE0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为什么不引入分布式：扩展收益尚不足以覆盖新变量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DE81A77-7B22-4E95-BC36-ECF1C65C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数据容量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当前数据与计算可由单机内存和单 GPU 承载。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784E7ED-065E-47DB-9A0A-2D6912DB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数据移动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跨节点 PNG、序列化和网络会改变端到端口径。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47B623-3289-4076-ABF3-AFA3E705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系统复杂度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调度、容错、存储一致性会成为新的研究问题。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1691792-DBB6-48CC-B0FA-47B7FC2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触发条件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超出单机容量，或吞吐目标必须跨节点线性扩展。</a:t>
            </a:r>
          </a:p>
        </p:txBody>
      </p:sp>
    </p:spTree>
    <p:extLst>
      <p:ext uri="{BB962C8B-B14F-4D97-AF65-F5344CB8AC3E}">
        <p14:creationId xmlns:p14="http://schemas.microsoft.com/office/powerpoint/2010/main" val="4521639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6183ABC-549B-4B2B-8A5D-75ED39FB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52E65D4-4CA8-43DB-B73B-A324D6B8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现场 Demo：完成实验闭环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66907C36-514B-401F-BBCC-1C153908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3E7DB798-E02F-4A43-B339-5F52E35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M1 是本地实验控制台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CLI 模式真正调用 C++；Demo 模式只读取示例数据。
推荐现场先跑 Sequential + OpenMP 小矩阵，再打开 validation、speedup 与 compute / end-to-end 图表。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b89ab4cc4ea3"/>
          <a:srcRect xmlns:a="http://schemas.openxmlformats.org/drawingml/2006/main" l="14840" t="0" r="148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6936075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AF4925A-49AF-496F-912B-B5841AF7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正确性、加速与开销
必须一起解释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0BE4144-43F8-4103-B9DD-0D1D9FC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OpenMP：粒度决定效率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CUDA：搬运决定收益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M8：统一实验后再验证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BAC1687-99F5-469C-8321-E60C68A4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350930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2026-07-26T20:47:05.1340000Z</dcterms:created>
  <dcterms:modified xsi:type="dcterms:W3CDTF">2026-07-26T20:47:05.1340000Z</dcterms:modified>
</coreProperties>
</file>
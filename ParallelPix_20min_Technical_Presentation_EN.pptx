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66944c8b734603" /><Relationship Type="http://schemas.openxmlformats.org/officeDocument/2006/relationships/extended-properties" Target="/docProps/app.xml" Id="R6ee3afc0b2454396" /><Relationship Type="http://schemas.openxmlformats.org/officeDocument/2006/relationships/officeDocument" Target="/ppt/presentation.xml" Id="Ra4b653a80dc44061" /></Relationships>
</file>

<file path=ppt/presentation.xml><?xml version="1.0" encoding="utf-8"?>
<p:presentation xmlns:p="http://schemas.openxmlformats.org/presentationml/2006/main">
  <p:sldMasterIdLst>
    <p:sldMasterId xmlns:r="http://schemas.openxmlformats.org/officeDocument/2006/relationships" id="2147483648" r:id="Re55cf810f62844c4"/>
  </p:sldMasterIdLst>
  <p:notesMasterIdLst>
    <p:notesMasterId xmlns:r="http://schemas.openxmlformats.org/officeDocument/2006/relationships" r:id="Rc6c7db6637e848dd"/>
  </p:notesMasterIdLst>
  <p:sldIdLst>
    <p:sldId xmlns:r="http://schemas.openxmlformats.org/officeDocument/2006/relationships" id="256" r:id="Rc9452305200e400a"/>
    <p:sldId xmlns:r="http://schemas.openxmlformats.org/officeDocument/2006/relationships" id="257" r:id="Radfc2b2b225a4857"/>
    <p:sldId xmlns:r="http://schemas.openxmlformats.org/officeDocument/2006/relationships" id="258" r:id="R4965d4b9f9224a5e"/>
    <p:sldId xmlns:r="http://schemas.openxmlformats.org/officeDocument/2006/relationships" id="259" r:id="R3419c5b9f8f84d0b"/>
    <p:sldId xmlns:r="http://schemas.openxmlformats.org/officeDocument/2006/relationships" id="260" r:id="Reb1c5fc5d1c843fc"/>
    <p:sldId xmlns:r="http://schemas.openxmlformats.org/officeDocument/2006/relationships" id="261" r:id="R5d9b0d8f72b948f3"/>
    <p:sldId xmlns:r="http://schemas.openxmlformats.org/officeDocument/2006/relationships" id="262" r:id="Rfcf9e79f7571426f"/>
    <p:sldId xmlns:r="http://schemas.openxmlformats.org/officeDocument/2006/relationships" id="263" r:id="Rc3818372941e45de"/>
    <p:sldId xmlns:r="http://schemas.openxmlformats.org/officeDocument/2006/relationships" id="264" r:id="R8b0ec1825f114fff"/>
    <p:sldId xmlns:r="http://schemas.openxmlformats.org/officeDocument/2006/relationships" id="265" r:id="R8c18c869f1224ff0"/>
    <p:sldId xmlns:r="http://schemas.openxmlformats.org/officeDocument/2006/relationships" id="266" r:id="Rfeaef4da1e4c4be6"/>
    <p:sldId xmlns:r="http://schemas.openxmlformats.org/officeDocument/2006/relationships" id="267" r:id="R6572cf2ebc304909"/>
    <p:sldId xmlns:r="http://schemas.openxmlformats.org/officeDocument/2006/relationships" id="268" r:id="R771c834f2f7e4959"/>
    <p:sldId xmlns:r="http://schemas.openxmlformats.org/officeDocument/2006/relationships" id="269" r:id="R21fbca97ca6647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9935e4a09949e8" /><Relationship Type="http://schemas.openxmlformats.org/officeDocument/2006/relationships/slideMaster" Target="/ppt/slideMasters/slideMaster1.xml" Id="Re55cf810f62844c4" /><Relationship Type="http://schemas.openxmlformats.org/officeDocument/2006/relationships/notesMaster" Target="/ppt/notesMasters/notesMaster1.xml" Id="Rc6c7db6637e848dd" /><Relationship Type="http://schemas.openxmlformats.org/officeDocument/2006/relationships/presProps" Target="/ppt/presProps.xml" Id="Rb9f884e2af6d4de0" /><Relationship Type="http://schemas.openxmlformats.org/officeDocument/2006/relationships/tableStyles" Target="/ppt/tableStyles.xml" Id="R86528b5864d84cfb" /><Relationship Type="http://schemas.openxmlformats.org/officeDocument/2006/relationships/slide" Target="/ppt/slides/slide1.xml" Id="Rc9452305200e400a" /><Relationship Type="http://schemas.openxmlformats.org/officeDocument/2006/relationships/slide" Target="/ppt/slides/slide2.xml" Id="Radfc2b2b225a4857" /><Relationship Type="http://schemas.openxmlformats.org/officeDocument/2006/relationships/slide" Target="/ppt/slides/slide3.xml" Id="R4965d4b9f9224a5e" /><Relationship Type="http://schemas.openxmlformats.org/officeDocument/2006/relationships/slide" Target="/ppt/slides/slide4.xml" Id="R3419c5b9f8f84d0b" /><Relationship Type="http://schemas.openxmlformats.org/officeDocument/2006/relationships/slide" Target="/ppt/slides/slide5.xml" Id="Reb1c5fc5d1c843fc" /><Relationship Type="http://schemas.openxmlformats.org/officeDocument/2006/relationships/slide" Target="/ppt/slides/slide6.xml" Id="R5d9b0d8f72b948f3" /><Relationship Type="http://schemas.openxmlformats.org/officeDocument/2006/relationships/slide" Target="/ppt/slides/slide7.xml" Id="Rfcf9e79f7571426f" /><Relationship Type="http://schemas.openxmlformats.org/officeDocument/2006/relationships/slide" Target="/ppt/slides/slide8.xml" Id="Rc3818372941e45de" /><Relationship Type="http://schemas.openxmlformats.org/officeDocument/2006/relationships/slide" Target="/ppt/slides/slide9.xml" Id="R8b0ec1825f114fff" /><Relationship Type="http://schemas.openxmlformats.org/officeDocument/2006/relationships/slide" Target="/ppt/slides/slide10.xml" Id="R8c18c869f1224ff0" /><Relationship Type="http://schemas.openxmlformats.org/officeDocument/2006/relationships/slide" Target="/ppt/slides/slide11.xml" Id="Rfeaef4da1e4c4be6" /><Relationship Type="http://schemas.openxmlformats.org/officeDocument/2006/relationships/slide" Target="/ppt/slides/slide12.xml" Id="R6572cf2ebc304909" /><Relationship Type="http://schemas.openxmlformats.org/officeDocument/2006/relationships/slide" Target="/ppt/slides/slide13.xml" Id="R771c834f2f7e4959" /><Relationship Type="http://schemas.openxmlformats.org/officeDocument/2006/relationships/slide" Target="/ppt/slides/slide14.xml" Id="R21fbca97ca6647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ad179207ac4c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cf0be5384e4966" /><Relationship Type="http://schemas.openxmlformats.org/officeDocument/2006/relationships/notesMaster" Target="/ppt/notesMasters/notesMaster1.xml" Id="Rf76cd9c3e46143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62689ac0e343cd" /><Relationship Type="http://schemas.openxmlformats.org/officeDocument/2006/relationships/notesMaster" Target="/ppt/notesMasters/notesMaster1.xml" Id="R6a794abe803f46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1f8bafdddc46af" /><Relationship Type="http://schemas.openxmlformats.org/officeDocument/2006/relationships/notesMaster" Target="/ppt/notesMasters/notesMaster1.xml" Id="R46f849703a314e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8c06cc7e74433c" /><Relationship Type="http://schemas.openxmlformats.org/officeDocument/2006/relationships/notesMaster" Target="/ppt/notesMasters/notesMaster1.xml" Id="R64fd5ba2caee41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bc266189674337" /><Relationship Type="http://schemas.openxmlformats.org/officeDocument/2006/relationships/notesMaster" Target="/ppt/notesMasters/notesMaster1.xml" Id="R41c70bcc736f4b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d874e4f1064bfa" /><Relationship Type="http://schemas.openxmlformats.org/officeDocument/2006/relationships/notesMaster" Target="/ppt/notesMasters/notesMaster1.xml" Id="R47fc13c3446941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ce39ffff6240c4" /><Relationship Type="http://schemas.openxmlformats.org/officeDocument/2006/relationships/notesMaster" Target="/ppt/notesMasters/notesMaster1.xml" Id="R146c25a7597d43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76e594416d40a8" /><Relationship Type="http://schemas.openxmlformats.org/officeDocument/2006/relationships/notesMaster" Target="/ppt/notesMasters/notesMaster1.xml" Id="R8f8e4ffd43974e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565389baab4d72" /><Relationship Type="http://schemas.openxmlformats.org/officeDocument/2006/relationships/notesMaster" Target="/ppt/notesMasters/notesMaster1.xml" Id="R4ddc2396238e45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ddb1c6cea04b93" /><Relationship Type="http://schemas.openxmlformats.org/officeDocument/2006/relationships/notesMaster" Target="/ppt/notesMasters/notesMaster1.xml" Id="R35128ca4f07e44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890c7628ca4f63" /><Relationship Type="http://schemas.openxmlformats.org/officeDocument/2006/relationships/notesMaster" Target="/ppt/notesMasters/notesMaster1.xml" Id="Rf71952a58cb546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ed75c374ad432d" /><Relationship Type="http://schemas.openxmlformats.org/officeDocument/2006/relationships/notesMaster" Target="/ppt/notesMasters/notesMaster1.xml" Id="Re318fc25e22d4e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cc8e8fa28f4ac5" /><Relationship Type="http://schemas.openxmlformats.org/officeDocument/2006/relationships/notesMaster" Target="/ppt/notesMasters/notesMaster1.xml" Id="Rc3c3152dcd7f4e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58dfcea5424625" /><Relationship Type="http://schemas.openxmlformats.org/officeDocument/2006/relationships/notesMaster" Target="/ppt/notesMasters/notesMaster1.xml" Id="Rcd84c159809349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0:30</a:t>
            </a:r>
          </a:p>
          <a:p xmlns:a="http://schemas.openxmlformats.org/drawingml/2006/main">
            <a:r>
              <a:t/>
            </a:r>
          </a:p>
          <a:p xmlns:a="http://schemas.openxmlformats.org/drawingml/2006/main">
            <a:r>
              <a:t>Opening: ParallelPix is not just an image-processing utility. It is a verifiable parallel-computing experiment platform. Three backends execute the same pixel semantics, allowing us to compare correctness, compute time, and end-to-end gains.</a:t>
            </a:r>
          </a:p>
          <a:p xmlns:a="http://schemas.openxmlformats.org/drawingml/2006/main">
            <a:r>
              <a:t>[Sources]</a:t>
            </a:r>
          </a:p>
          <a:p xmlns:a="http://schemas.openxmlformats.org/drawingml/2006/main">
            <a:r>
              <a:t>- D:\Programming\MS3\ParallelPix\docs\design\项目需求文档.md</a:t>
            </a:r>
          </a:p>
          <a:p xmlns:a="http://schemas.openxmlformats.org/drawingml/2006/main">
            <a:r>
              <a:t>- D:\Programming\MS3\ParallelPix\docs\tech\技术架构文档.md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1:00</a:t>
            </a:r>
          </a:p>
          <a:p xmlns:a="http://schemas.openxmlformats.org/drawingml/2006/main">
            <a:r>
              <a:t/>
            </a:r>
          </a:p>
          <a:p xmlns:a="http://schemas.openxmlformats.org/drawingml/2006/main">
            <a:r>
              <a:t>Frame the research question first: the value of a single CPU core, multiple CPU cores, or a GPU is not fixed. It depends on batch size, task granularity, and the cost of moving data between host and device.</a:t>
            </a:r>
          </a:p>
          <a:p xmlns:a="http://schemas.openxmlformats.org/drawingml/2006/main">
            <a:r>
              <a:t>[Sources]</a:t>
            </a:r>
          </a:p>
          <a:p xmlns:a="http://schemas.openxmlformats.org/drawingml/2006/main">
            <a:r>
              <a:t>- D:\Programming\MS3\ParallelPix\docs\design\项目需求文档.md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1:15</a:t>
            </a:r>
          </a:p>
          <a:p xmlns:a="http://schemas.openxmlformats.org/drawingml/2006/main">
            <a:r>
              <a:t/>
            </a:r>
          </a:p>
          <a:p xmlns:a="http://schemas.openxmlformats.org/drawingml/2006/main">
            <a:r>
              <a:t>Stress fairness: OpenCV handles only image I/O. The three backends preserve identical core pixel semantics, so measured differences come from execution strategy rather than different algorithms.</a:t>
            </a:r>
          </a:p>
          <a:p xmlns:a="http://schemas.openxmlformats.org/drawingml/2006/main">
            <a:r>
              <a:t>[Sources]</a:t>
            </a:r>
          </a:p>
          <a:p xmlns:a="http://schemas.openxmlformats.org/drawingml/2006/main">
            <a:r>
              <a:t>- D:\Programming\MS3\ParallelPix\docs\design\M3图片数据IO设计.md</a:t>
            </a:r>
          </a:p>
          <a:p xmlns:a="http://schemas.openxmlformats.org/drawingml/2006/main">
            <a:r>
              <a:t>- D:\Programming\MS3\ParallelPix\docs\design\M4公共处理模型与Sequential设计.md</a:t>
            </a:r>
          </a:p>
          <a:p xmlns:a="http://schemas.openxmlformats.org/drawingml/2006/main">
            <a:r>
              <a:t>- D:\Programming\MS3\ParallelPix\docs\design\M7验证与Benchmark设计.md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1:30</a:t>
            </a:r>
          </a:p>
          <a:p xmlns:a="http://schemas.openxmlformats.org/drawingml/2006/main">
            <a:r>
              <a:t/>
            </a:r>
          </a:p>
          <a:p xmlns:a="http://schemas.openxmlformats.org/drawingml/2006/main">
            <a:r>
              <a:t>The architectural idea is dependency inversion. The controller depends only on a common backend interface. Each backend reports availability and returns a common execution result. CUDA phase timing and effective batch size remain optional extensions.</a:t>
            </a:r>
          </a:p>
          <a:p xmlns:a="http://schemas.openxmlformats.org/drawingml/2006/main">
            <a:r>
              <a:t>[Sources]</a:t>
            </a:r>
          </a:p>
          <a:p xmlns:a="http://schemas.openxmlformats.org/drawingml/2006/main">
            <a:r>
              <a:t>- D:\Programming\MS3\ParallelPix\include\parallelpix\benchmark\backend.hpp</a:t>
            </a:r>
          </a:p>
          <a:p xmlns:a="http://schemas.openxmlformats.org/drawingml/2006/main">
            <a:r>
              <a:t>- D:\Programming\MS3\ParallelPix\src\pipeline\benchmark_pipeline.cpp</a:t>
            </a:r>
          </a:p>
          <a:p xmlns:a="http://schemas.openxmlformats.org/drawingml/2006/main">
            <a:r>
              <a:t>- D:\Programming\MS3\ParallelPix\docs\tech\技术架构文档.md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1:20</a:t>
            </a:r>
          </a:p>
          <a:p xmlns:a="http://schemas.openxmlformats.org/drawingml/2006/main">
            <a:r>
              <a:t/>
            </a:r>
          </a:p>
          <a:p xmlns:a="http://schemas.openxmlformats.org/drawingml/2006/main">
            <a:r>
              <a:t>Make the rule explicit: fast but incorrect is invalid. OpenMP preserves operation order and performs no floating-point reduction, so it must match exactly. CUDA allows an error of at most one per channel. Failed validations remain recorded, but speedup and efficiency are left blank.</a:t>
            </a:r>
          </a:p>
          <a:p xmlns:a="http://schemas.openxmlformats.org/drawingml/2006/main">
            <a:r>
              <a:t>[Sources]</a:t>
            </a:r>
          </a:p>
          <a:p xmlns:a="http://schemas.openxmlformats.org/drawingml/2006/main">
            <a:r>
              <a:t>- D:\Programming\MS3\ParallelPix\docs\design\M4公共处理模型与Sequential设计.md</a:t>
            </a:r>
          </a:p>
          <a:p xmlns:a="http://schemas.openxmlformats.org/drawingml/2006/main">
            <a:r>
              <a:t>- D:\Programming\MS3\ParallelPix\docs\design\M7验证与Benchmark设计.md</a:t>
            </a:r>
          </a:p>
          <a:p xmlns:a="http://schemas.openxmlformats.org/drawingml/2006/main">
            <a:r>
              <a:t>- D:\Programming\MS3\ParallelPix\src\benchmark\runner\experiment.cpp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2:00</a:t>
            </a:r>
          </a:p>
          <a:p xmlns:a="http://schemas.openxmlformats.org/drawingml/2006/main">
            <a:r>
              <a:t/>
            </a:r>
          </a:p>
          <a:p xmlns:a="http://schemas.openxmlformats.org/drawingml/2006/main">
            <a:r>
              <a:t>Show the two actual directives: image-level work uses #pragma omp parallel for schedule(dynamic,1), while row-level work uses schedule(static). Dynamic scheduling handles unequal image workloads but adds scheduling cost; static scheduling suits uniform output rows. The key is selecting one granularity from batch size and thread count, not nesting both levels.</a:t>
            </a:r>
          </a:p>
          <a:p xmlns:a="http://schemas.openxmlformats.org/drawingml/2006/main">
            <a:r>
              <a:t>[Sources]</a:t>
            </a:r>
          </a:p>
          <a:p xmlns:a="http://schemas.openxmlformats.org/drawingml/2006/main">
            <a:r>
              <a:t>- D:\Programming\MS3\ParallelPix\src\openmp\scheduling\scheduling.cpp</a:t>
            </a:r>
          </a:p>
          <a:p xmlns:a="http://schemas.openxmlformats.org/drawingml/2006/main">
            <a:r>
              <a:t>- D:\Programming\MS3\ParallelPix\src\openmp\processor\processor.cpp</a:t>
            </a:r>
          </a:p>
          <a:p xmlns:a="http://schemas.openxmlformats.org/drawingml/2006/main">
            <a:r>
              <a:t>- D:\Programming\MS3\ParallelPix\src\openmp\processor\process_image.cpp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1:35</a:t>
            </a:r>
          </a:p>
          <a:p xmlns:a="http://schemas.openxmlformats.org/drawingml/2006/main">
            <a:r>
              <a:t/>
            </a:r>
          </a:p>
          <a:p xmlns:a="http://schemas.openxmlformats.org/drawingml/2006/main">
            <a:r>
              <a:t>Read the gap between the measured and ideal lines. With eight threads, S=5.343 and E=S/8=0.668. An Amdahl-style estimate places the effective serial fraction plus parallel overhead at about 7.1%. OpenMP with one thread reaches only 0.922×, confirming that parallel-region and scheduling costs are real. The sample contains only six images, so this efficiency must not be generalized to large workloads.</a:t>
            </a:r>
          </a:p>
          <a:p xmlns:a="http://schemas.openxmlformats.org/drawingml/2006/main">
            <a:r>
              <a:t>[Sources]</a:t>
            </a:r>
          </a:p>
          <a:p xmlns:a="http://schemas.openxmlformats.org/drawingml/2006/main">
            <a:r>
              <a:t>- D:\Programming\MS3\ParallelPix\docs\test\M5 OpenMP后端测试.md</a:t>
            </a:r>
          </a:p>
          <a:p xmlns:a="http://schemas.openxmlformats.org/drawingml/2006/main">
            <a:r>
              <a:t>- D:\Programming\MS3\ParallelPix\results\benchmark.csv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2:00</a:t>
            </a:r>
          </a:p>
          <a:p xmlns:a="http://schemas.openxmlformats.org/drawingml/2006/main">
            <a:r>
              <a:t/>
            </a:r>
          </a:p>
          <a:p xmlns:a="http://schemas.openxmlformats.org/drawingml/2006/main">
            <a:r>
              <a:t>GPU value is not just a larger thread count. A fused kernel avoids repeatedly writing intermediate resize, brightness, and watermark images to global memory. Contiguous packing reduces fragmentation and repeated copies; a single stream is an intentional, interpretable baseline. OOM fallback discards the failed attempt, halves the batch, and retries from the beginning once.</a:t>
            </a:r>
          </a:p>
          <a:p xmlns:a="http://schemas.openxmlformats.org/drawingml/2006/main">
            <a:r>
              <a:t>[Sources]</a:t>
            </a:r>
          </a:p>
          <a:p xmlns:a="http://schemas.openxmlformats.org/drawingml/2006/main">
            <a:r>
              <a:t>- D:\Programming\MS3\ParallelPix\src\cuda\kernels\process_batch.cu</a:t>
            </a:r>
          </a:p>
          <a:p xmlns:a="http://schemas.openxmlformats.org/drawingml/2006/main">
            <a:r>
              <a:t>- D:\Programming\MS3\ParallelPix\src\cuda\processor\batch_executor.cpp</a:t>
            </a:r>
          </a:p>
          <a:p xmlns:a="http://schemas.openxmlformats.org/drawingml/2006/main">
            <a:r>
              <a:t>- D:\Programming\MS3\ParallelPix\src\cuda\processor\processor.cpp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1:30</a:t>
            </a:r>
          </a:p>
          <a:p xmlns:a="http://schemas.openxmlformats.org/drawingml/2006/main">
            <a:r>
              <a:t/>
            </a:r>
          </a:p>
          <a:p xmlns:a="http://schemas.openxmlformats.org/drawingml/2006/main">
            <a:r>
              <a:t>Do not compare the 7.44 ms kernel time directly with CPU wall-clock time. The valid comparison uses the full compute value of 26.71 ms. CUDA event phases still sum to less than compute; the roughly 41% gap shows that host preparation and object reconstruction matter. These CUDA figures are historical measurements from the target GPU, while the current workspace build is CPU-only.</a:t>
            </a:r>
          </a:p>
          <a:p xmlns:a="http://schemas.openxmlformats.org/drawingml/2006/main">
            <a:r>
              <a:t>[Sources]</a:t>
            </a:r>
          </a:p>
          <a:p xmlns:a="http://schemas.openxmlformats.org/drawingml/2006/main">
            <a:r>
              <a:t>- D:\Programming\MS3\ParallelPix\docs\test\M6 CUDA后端测试.md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1:45</a:t>
            </a:r>
          </a:p>
          <a:p xmlns:a="http://schemas.openxmlformats.org/drawingml/2006/main">
            <a:r>
              <a:t/>
            </a:r>
          </a:p>
          <a:p xmlns:a="http://schemas.openxmlformats.org/drawingml/2006/main">
            <a:r>
              <a:t>Keep the three timing domains separate: compute, end-to-end, and CUDA event phases. The reported result uses the median while retaining min, max, and standard deviation. Speedup may reference only a validated Sequential record from the same run and image count. The dashboard remains entirely outside the timed region.</a:t>
            </a:r>
          </a:p>
          <a:p xmlns:a="http://schemas.openxmlformats.org/drawingml/2006/main">
            <a:r>
              <a:t>[Sources]</a:t>
            </a:r>
          </a:p>
          <a:p xmlns:a="http://schemas.openxmlformats.org/drawingml/2006/main">
            <a:r>
              <a:t>- D:\Programming\MS3\ParallelPix\src\benchmark\runner\experiment.cpp</a:t>
            </a:r>
          </a:p>
          <a:p xmlns:a="http://schemas.openxmlformats.org/drawingml/2006/main">
            <a:r>
              <a:t>- D:\Programming\MS3\ParallelPix\docs\design\M7验证与Benchmark设计.md</a:t>
            </a:r>
          </a:p>
          <a:p xmlns:a="http://schemas.openxmlformats.org/drawingml/2006/main">
            <a:r>
              <a:t>- D:\Programming\MS3\ParallelPix\docs\tech\技术架构文档.md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1:20</a:t>
            </a:r>
          </a:p>
          <a:p xmlns:a="http://schemas.openxmlformats.org/drawingml/2006/main">
            <a:r>
              <a:t/>
            </a:r>
          </a:p>
          <a:p xmlns:a="http://schemas.openxmlformats.org/drawingml/2006/main">
            <a:r>
              <a:t>State the limitation proactively: OpenMP and CUDA performance results come from different runs and workload sizes, so they cannot be combined into a claim such as 'CUDA is X times faster than OpenMP.' Each backend has demonstrated acceleration, but the final three-way conclusion requires a unified experiment.</a:t>
            </a:r>
          </a:p>
          <a:p xmlns:a="http://schemas.openxmlformats.org/drawingml/2006/main">
            <a:r>
              <a:t>[Sources]</a:t>
            </a:r>
          </a:p>
          <a:p xmlns:a="http://schemas.openxmlformats.org/drawingml/2006/main">
            <a:r>
              <a:t>- D:\Programming\MS3\ParallelPix\docs\plan\开发计划.md</a:t>
            </a:r>
          </a:p>
          <a:p xmlns:a="http://schemas.openxmlformats.org/drawingml/2006/main">
            <a:r>
              <a:t>- D:\Programming\MS3\ParallelPix\docs\test\M5 OpenMP后端测试.md</a:t>
            </a:r>
          </a:p>
          <a:p xmlns:a="http://schemas.openxmlformats.org/drawingml/2006/main">
            <a:r>
              <a:t>- D:\Programming\MS3\ParallelPix\docs\test\M6 CUDA后端测试.md</a:t>
            </a:r>
          </a:p>
          <a:p xmlns:a="http://schemas.openxmlformats.org/drawingml/2006/main">
            <a:r>
              <a:t>- D:\Programming\MS3\ParallelPix\docs\test\M7验证与Benchmark测试.md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1:10</a:t>
            </a:r>
          </a:p>
          <a:p xmlns:a="http://schemas.openxmlformats.org/drawingml/2006/main">
            <a:r>
              <a:t/>
            </a:r>
          </a:p>
          <a:p xmlns:a="http://schemas.openxmlformats.org/drawingml/2006/main">
            <a:r>
              <a:t>This is a technical trade-off, not a missing feature. Images could be partitioned across nodes, but networking, serialization, distributed storage, and fault tolerance introduce new variables. Sequential, OpenMP, and CUDA already answer the central question of where computation should happen on one machine.</a:t>
            </a:r>
          </a:p>
          <a:p xmlns:a="http://schemas.openxmlformats.org/drawingml/2006/main">
            <a:r>
              <a:t>[Sources]</a:t>
            </a:r>
          </a:p>
          <a:p xmlns:a="http://schemas.openxmlformats.org/drawingml/2006/main">
            <a:r>
              <a:t>- D:\Programming\MS3\ParallelPix\项目要求.md</a:t>
            </a:r>
          </a:p>
          <a:p xmlns:a="http://schemas.openxmlformats.org/drawingml/2006/main">
            <a:r>
              <a:t>- D:\Programming\MS3\ParallelPix\docs\tech\技术架构文档.md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2:20</a:t>
            </a:r>
          </a:p>
          <a:p xmlns:a="http://schemas.openxmlformats.org/drawingml/2006/main">
            <a:r>
              <a:t/>
            </a:r>
          </a:p>
          <a:p xmlns:a="http://schemas.openxmlformats.org/drawingml/2006/main">
            <a:r>
              <a:t>Demonstrate the complete loop rather than a static screenshot. In Local CLI mode, select the current CPU-only executable, choose Sequential + OpenMP, 2/4/6 images, and 1/2/4/8 threads. After execution, show the new run_id, validation_passed, speedup, and the difference between compute and end-to-end. If the environment is unstable, switch to Demo mode and clearly state that its values are not measured on the current machine.</a:t>
            </a:r>
          </a:p>
          <a:p xmlns:a="http://schemas.openxmlformats.org/drawingml/2006/main">
            <a:r>
              <a:t>[Sources]</a:t>
            </a:r>
          </a:p>
          <a:p xmlns:a="http://schemas.openxmlformats.org/drawingml/2006/main">
            <a:r>
              <a:t>- D:\Programming\MS3\ParallelPix\tools\parallelpix_dashboard\page.py</a:t>
            </a:r>
          </a:p>
          <a:p xmlns:a="http://schemas.openxmlformats.org/drawingml/2006/main">
            <a:r>
              <a:t>- D:\Programming\MS3\ParallelPix\tools\parallelpix_dashboard\runners.py</a:t>
            </a:r>
          </a:p>
          <a:p xmlns:a="http://schemas.openxmlformats.org/drawingml/2006/main">
            <a:r>
              <a:t>- D:\Programming\MS3\ParallelPix\tools\parallelpix_dashboard\views.py</a:t>
            </a:r>
          </a:p>
          <a:p xmlns:a="http://schemas.openxmlformats.org/drawingml/2006/main">
            <a:r>
              <a:t>- D:\Programming\MS3\ParallelPix\docs\test\screenshots\m1-implementation-en-demo-final-1440x1024.png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0:45</a:t>
            </a:r>
          </a:p>
          <a:p xmlns:a="http://schemas.openxmlformats.org/drawingml/2006/main">
            <a:r>
              <a:t/>
            </a:r>
          </a:p>
          <a:p xmlns:a="http://schemas.openxmlformats.org/drawingml/2006/main">
            <a:r>
              <a:t>Close on the contribution: ParallelPix is not defined by one maximum speedup number. It places correctness, acceleration, overhead, and applicability boundaries in one reproducible experiment. M8 Hybrid is a hypothesis for the next stage, not a promise of higher performance, because the CPU and GPU may compete for memory bandwidth and I/O.</a:t>
            </a:r>
          </a:p>
          <a:p xmlns:a="http://schemas.openxmlformats.org/drawingml/2006/main">
            <a:r>
              <a:t>[Sources]</a:t>
            </a:r>
          </a:p>
          <a:p xmlns:a="http://schemas.openxmlformats.org/drawingml/2006/main">
            <a:r>
              <a:t>- D:\Programming\MS3\ParallelPix\docs\design\M8 CPU-GPU混合后端设计.md</a:t>
            </a:r>
          </a:p>
          <a:p xmlns:a="http://schemas.openxmlformats.org/drawingml/2006/main">
            <a:r>
              <a:t>- D:\Programming\MS3\ParallelPix\docs\plan\开发计划.md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770ffb3a3248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368f3232e441db" /><Relationship Type="http://schemas.openxmlformats.org/officeDocument/2006/relationships/slideLayout" Target="/ppt/slideLayouts/slideLayout1.xml" Id="Ra55be7bf4f7640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5be7bf4f7640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3eccbbbbd04fc4" /><Relationship Type="http://schemas.openxmlformats.org/officeDocument/2006/relationships/notesSlide" Target="/ppt/notesSlides/notesSlide1.xml" Id="R063f6225fd944d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b42675913e4376" /><Relationship Type="http://schemas.openxmlformats.org/officeDocument/2006/relationships/notesSlide" Target="/ppt/notesSlides/notesSlide2.xml" Id="Rfcb14e7eaa3143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b478166f814eb8" /><Relationship Type="http://schemas.openxmlformats.org/officeDocument/2006/relationships/notesSlide" Target="/ppt/notesSlides/notesSlide3.xml" Id="R21785cf9646947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1cb8d72c474353" /><Relationship Type="http://schemas.openxmlformats.org/officeDocument/2006/relationships/notesSlide" Target="/ppt/notesSlides/notesSlide4.xml" Id="R693b9182a3f44a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bcc7c5d4c74b36" /><Relationship Type="http://schemas.openxmlformats.org/officeDocument/2006/relationships/notesSlide" Target="/ppt/notesSlides/notesSlide5.xml" Id="R23db2a45c11c40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b58bd23a914633" /><Relationship Type="http://schemas.openxmlformats.org/officeDocument/2006/relationships/notesSlide" Target="/ppt/notesSlides/notesSlide6.xml" Id="R42475f13c5f041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07ab3ac6f247e4" /><Relationship Type="http://schemas.openxmlformats.org/officeDocument/2006/relationships/chart" Target="/ppt/slides/charts/chart1.xml" Id="R36c24993eded463e" /><Relationship Type="http://schemas.openxmlformats.org/officeDocument/2006/relationships/notesSlide" Target="/ppt/notesSlides/notesSlide7.xml" Id="Rf8b57338ff3c4d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84fc28ff6b4f17" /><Relationship Type="http://schemas.openxmlformats.org/officeDocument/2006/relationships/notesSlide" Target="/ppt/notesSlides/notesSlide8.xml" Id="R6b84b38c6d124b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3075fe02bc477e" /><Relationship Type="http://schemas.openxmlformats.org/officeDocument/2006/relationships/chart" Target="/ppt/slides/charts/chart2.xml" Id="Rae0b6419a79145bf" /><Relationship Type="http://schemas.openxmlformats.org/officeDocument/2006/relationships/notesSlide" Target="/ppt/notesSlides/notesSlide9.xml" Id="R4100feac34a840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ac5c0cab714a38" /><Relationship Type="http://schemas.openxmlformats.org/officeDocument/2006/relationships/notesSlide" Target="/ppt/notesSlides/notesSlide10.xml" Id="R5f1db416deb641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5ef2221c33f43ce" /><Relationship Type="http://schemas.openxmlformats.org/officeDocument/2006/relationships/notesSlide" Target="/ppt/notesSlides/notesSlide11.xml" Id="Rdffd161c4bb043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801f8ccabc8461f" /><Relationship Type="http://schemas.openxmlformats.org/officeDocument/2006/relationships/notesSlide" Target="/ppt/notesSlides/notesSlide12.xml" Id="Rbe3ad487f5f943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654b2c9b01b4ea9" /><Relationship Type="http://schemas.openxmlformats.org/officeDocument/2006/relationships/image" Target="/ppt/media/image.jpeg" Id="R98e1d3a226c7494b" /><Relationship Type="http://schemas.openxmlformats.org/officeDocument/2006/relationships/notesSlide" Target="/ppt/notesSlides/notesSlide13.xml" Id="Rb9c8aead9abb48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ab59706e6ae4030" /><Relationship Type="http://schemas.openxmlformats.org/officeDocument/2006/relationships/notesSlide" Target="/ppt/notesSlides/notesSlide14.xml" Id="R1f67317204ea4dae" /></Relationships>
</file>

<file path=ppt/slides/charts/chart1.xml><?xml version="1.0" encoding="utf-8"?>
<c:chartSpace xmlns:c="http://schemas.openxmlformats.org/drawingml/2006/chart">
  <c:lang val="en-US"/>
  <c:chart>
    <c:plotArea>
      <c:lineChart>
        <c:grouping val="standard"/>
        <c:varyColors val="0"/>
        <c:ser>
          <c:idx val="0"/>
          <c:order val="0"/>
          <c:tx>
            <c:v>Measured</c:v>
          </c:tx>
          <c:spPr>
            <a:ln xmlns:a="http://schemas.openxmlformats.org/drawingml/2006/main" w="28575">
              <a:solidFill>
                <a:srgbClr val="3D8DFF"/>
              </a:solidFill>
              <a:prstDash val="solid"/>
            </a:ln>
          </c:spPr>
          <c:marker>
            <c:symbol val="circle"/>
            <c:size val="6"/>
          </c:marker>
          <c:cat>
            <c:strLit>
              <c:ptCount val="4"/>
              <c:pt idx="0">
                <c:v>1 thread</c:v>
              </c:pt>
              <c:pt idx="1">
                <c:v>2 threads</c:v>
              </c:pt>
              <c:pt idx="2">
                <c:v>4 threads</c:v>
              </c:pt>
              <c:pt idx="3">
                <c:v>8 threads</c:v>
              </c:pt>
            </c:strLit>
          </c:cat>
          <c:val>
            <c:numLit>
              <c:formatCode>General</c:formatCode>
              <c:ptCount val="4"/>
              <c:pt idx="0">
                <c:v>0.922</c:v>
              </c:pt>
              <c:pt idx="1">
                <c:v>1.638</c:v>
              </c:pt>
              <c:pt idx="2">
                <c:v>2.537</c:v>
              </c:pt>
              <c:pt idx="3">
                <c:v>5.343</c:v>
              </c:pt>
            </c:numLit>
          </c:val>
        </c:ser>
        <c:ser>
          <c:idx val="1"/>
          <c:order val="1"/>
          <c:tx>
            <c:v>Ideal</c:v>
          </c:tx>
          <c:spPr>
            <a:ln xmlns:a="http://schemas.openxmlformats.org/drawingml/2006/main" w="28575">
              <a:solidFill>
                <a:srgbClr val="D0EDFA"/>
              </a:solidFill>
              <a:prstDash val="solid"/>
            </a:ln>
          </c:spPr>
          <c:marker>
            <c:symbol val="circle"/>
            <c:size val="6"/>
          </c:marker>
          <c:cat>
            <c:strLit>
              <c:ptCount val="4"/>
              <c:pt idx="0">
                <c:v>1 thread</c:v>
              </c:pt>
              <c:pt idx="1">
                <c:v>2 threads</c:v>
              </c:pt>
              <c:pt idx="2">
                <c:v>4 threads</c:v>
              </c:pt>
              <c:pt idx="3">
                <c:v>8 threads</c:v>
              </c:pt>
            </c:strLit>
          </c:cat>
          <c:val>
            <c:numLit>
              <c:formatCode>General</c:formatCode>
              <c:ptCount val="4"/>
              <c:pt idx="0">
                <c:v>1</c:v>
              </c:pt>
              <c:pt idx="1">
                <c:v>2</c:v>
              </c:pt>
              <c:pt idx="2">
                <c:v>4</c:v>
              </c:pt>
              <c:pt idx="3">
                <c:v>8</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8"/>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2"/>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stacked"/>
        <c:varyColors val="0"/>
        <c:ser>
          <c:idx val="0"/>
          <c:order val="0"/>
          <c:tx>
            <c:v>H2D</c:v>
          </c:tx>
          <c:spPr>
            <a:solidFill xmlns:a="http://schemas.openxmlformats.org/drawingml/2006/main">
              <a:srgbClr val="6DCBF4"/>
            </a:solidFill>
          </c:spPr>
          <c:cat>
            <c:strLit>
              <c:ptCount val="1"/>
              <c:pt idx="0">
                <c:v>8 images</c:v>
              </c:pt>
            </c:strLit>
          </c:cat>
          <c:val>
            <c:numLit>
              <c:formatCode>General</c:formatCode>
              <c:ptCount val="1"/>
              <c:pt idx="0">
                <c:v>5.1865</c:v>
              </c:pt>
            </c:numLit>
          </c:val>
        </c:ser>
        <c:ser>
          <c:idx val="1"/>
          <c:order val="1"/>
          <c:tx>
            <c:v>Kernel</c:v>
          </c:tx>
          <c:spPr>
            <a:solidFill xmlns:a="http://schemas.openxmlformats.org/drawingml/2006/main">
              <a:srgbClr val="3D8DFF"/>
            </a:solidFill>
          </c:spPr>
          <c:cat>
            <c:strLit>
              <c:ptCount val="1"/>
              <c:pt idx="0">
                <c:v>8 images</c:v>
              </c:pt>
            </c:strLit>
          </c:cat>
          <c:val>
            <c:numLit>
              <c:formatCode>General</c:formatCode>
              <c:ptCount val="1"/>
              <c:pt idx="0">
                <c:v>7.4422</c:v>
              </c:pt>
            </c:numLit>
          </c:val>
        </c:ser>
        <c:ser>
          <c:idx val="2"/>
          <c:order val="2"/>
          <c:tx>
            <c:v>D2H</c:v>
          </c:tx>
          <c:spPr>
            <a:solidFill xmlns:a="http://schemas.openxmlformats.org/drawingml/2006/main">
              <a:srgbClr val="D0EDFA"/>
            </a:solidFill>
          </c:spPr>
          <c:cat>
            <c:strLit>
              <c:ptCount val="1"/>
              <c:pt idx="0">
                <c:v>8 images</c:v>
              </c:pt>
            </c:strLit>
          </c:cat>
          <c:val>
            <c:numLit>
              <c:formatCode>General</c:formatCode>
              <c:ptCount val="1"/>
              <c:pt idx="0">
                <c:v>3.1532</c:v>
              </c:pt>
            </c:numLit>
          </c:val>
        </c:ser>
        <c:ser>
          <c:idx val="3"/>
          <c:order val="3"/>
          <c:tx>
            <c:v>Host + other</c:v>
          </c:tx>
          <c:spPr>
            <a:solidFill xmlns:a="http://schemas.openxmlformats.org/drawingml/2006/main">
              <a:srgbClr val="B8BCC4"/>
            </a:solidFill>
          </c:spPr>
          <c:cat>
            <c:strLit>
              <c:ptCount val="1"/>
              <c:pt idx="0">
                <c:v>8 images</c:v>
              </c:pt>
            </c:strLit>
          </c:cat>
          <c:val>
            <c:numLit>
              <c:formatCode>General</c:formatCode>
              <c:ptCount val="1"/>
              <c:pt idx="0">
                <c:v>10.9297</c:v>
              </c:pt>
            </c:numLit>
          </c:val>
        </c:ser>
        <c:dLbls>
          <c:showLegendKey val="0"/>
          <c:showVal val="1"/>
          <c:showCatName val="0"/>
          <c:showSerName val="0"/>
          <c:showPercent val="0"/>
          <c:showBubbleSize val="0"/>
          <c:showLeaderLines val="0"/>
        </c:dLbls>
        <c:gapWidth val="10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3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5"/>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0FC21C05-A300-4F04-9C7E-119C1EDA41B1}"/>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ParallelPix</a:t>
            </a:r>
          </a:p>
        </p:txBody>
      </p:sp>
      <p:sp>
        <p:nvSpPr>
          <p:cNvPr id="2" name="Subtitle-4-2">
            <a:extLst xmlns:a="http://schemas.openxmlformats.org/drawingml/2006/main">
              <a:ext uri="{FF2B5EF4-FFF2-40B4-BE49-F238E27FC236}">
                <a16:creationId xmlns:a16="http://schemas.microsoft.com/office/drawing/2014/main" id="{A7557FCD-FCAC-4715-8E2A-02C7187F69F4}"/>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One image pipeline. Three execution paths.
Sequential · OpenMP · CUDA</a:t>
            </a:r>
          </a:p>
        </p:txBody>
      </p:sp>
      <p:sp>
        <p:nvSpPr>
          <p:cNvPr id="3" name="Subtitle-4-3">
            <a:extLst xmlns:a="http://schemas.openxmlformats.org/drawingml/2006/main">
              <a:ext uri="{FF2B5EF4-FFF2-40B4-BE49-F238E27FC236}">
                <a16:creationId xmlns:a16="http://schemas.microsoft.com/office/drawing/2014/main" id="{01321BCF-3D62-4B63-A1C3-474409E04958}"/>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PARALLEL COMPUTING · IMAGE PIPELINE</a:t>
            </a:r>
          </a:p>
        </p:txBody>
      </p:sp>
    </p:spTree>
    <p:extLst>
      <p:ext uri="{BB962C8B-B14F-4D97-AF65-F5344CB8AC3E}">
        <p14:creationId xmlns:p14="http://schemas.microsoft.com/office/powerpoint/2010/main" val="4342329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41D5A5F3-F52C-484C-B1AD-3A1F6304406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6E228730-9278-430B-96CE-0246B5FC2CC1}"/>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real question is where computation pays off</a:t>
            </a:r>
          </a:p>
        </p:txBody>
      </p:sp>
      <p:sp>
        <p:nvSpPr>
          <p:cNvPr id="3" name="Rounded-Rectangle-9-4">
            <a:extLst xmlns:a="http://schemas.openxmlformats.org/drawingml/2006/main">
              <a:ext uri="{FF2B5EF4-FFF2-40B4-BE49-F238E27FC236}">
                <a16:creationId xmlns:a16="http://schemas.microsoft.com/office/drawing/2014/main" id="{60AA0D4D-00BD-4AFE-82FB-A5E01C8B04C1}"/>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D5A73712-F451-45CF-8D0D-D01D87A6EA2E}"/>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8B9410D6-629A-490F-A310-BE6126C818F2}"/>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Independent</a:t>
            </a:r>
          </a:p>
          <a:p xmlns:a="http://schemas.openxmlformats.org/drawingml/2006/main">
            <a:pPr algn="l">
              <a:defRPr sz="2400">
                <a:solidFill>
                  <a:srgbClr val="000000"/>
                </a:solidFill>
                <a:latin typeface="Helvetica Neue"/>
                <a:ea typeface="Helvetica Neue"/>
                <a:cs typeface="Helvetica Neue"/>
              </a:defRPr>
            </a:pPr>
            <a:r>
              <a:t>Images and output pixels have almost no cross-dependencies.</a:t>
            </a:r>
          </a:p>
        </p:txBody>
      </p:sp>
      <p:sp>
        <p:nvSpPr>
          <p:cNvPr id="6" name="Content-Placeholder-10-7">
            <a:extLst xmlns:a="http://schemas.openxmlformats.org/drawingml/2006/main">
              <a:ext uri="{FF2B5EF4-FFF2-40B4-BE49-F238E27FC236}">
                <a16:creationId xmlns:a16="http://schemas.microsoft.com/office/drawing/2014/main" id="{6D6D4E3D-24BE-42EA-A5A2-9F6645870738}"/>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Measurable</a:t>
            </a:r>
          </a:p>
          <a:p xmlns:a="http://schemas.openxmlformats.org/drawingml/2006/main">
            <a:pPr algn="l">
              <a:defRPr sz="2400">
                <a:solidFill>
                  <a:srgbClr val="000000"/>
                </a:solidFill>
                <a:latin typeface="Helvetica Neue"/>
                <a:ea typeface="Helvetica Neue"/>
                <a:cs typeface="Helvetica Neue"/>
              </a:defRPr>
            </a:pPr>
            <a:r>
              <a:t>Scale, threads, batches, and transfers define the experiment matrix.</a:t>
            </a:r>
          </a:p>
        </p:txBody>
      </p:sp>
      <p:sp>
        <p:nvSpPr>
          <p:cNvPr id="7" name="Google-Shape-340-p61-8">
            <a:extLst xmlns:a="http://schemas.openxmlformats.org/drawingml/2006/main">
              <a:ext uri="{FF2B5EF4-FFF2-40B4-BE49-F238E27FC236}">
                <a16:creationId xmlns:a16="http://schemas.microsoft.com/office/drawing/2014/main" id="{7E010EE6-495F-4EC2-A50F-8B167CA5A6F2}"/>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39F7F57A-9478-4F9B-B8D2-CE3B3E4F09F7}"/>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C57F72CF-37D5-4056-B740-A5ECFC1993FB}"/>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639AE053-09B3-4B2A-9891-88D31B5221B0}"/>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Repeatable</a:t>
            </a:r>
          </a:p>
          <a:p xmlns:a="http://schemas.openxmlformats.org/drawingml/2006/main">
            <a:pPr algn="l">
              <a:defRPr sz="2400">
                <a:solidFill>
                  <a:srgbClr val="000000"/>
                </a:solidFill>
                <a:latin typeface="Helvetica Neue"/>
                <a:ea typeface="Helvetica Neue"/>
                <a:cs typeface="Helvetica Neue"/>
              </a:defRPr>
            </a:pPr>
            <a:r>
              <a:t>Every image runs through the same processing pipeline.</a:t>
            </a:r>
          </a:p>
        </p:txBody>
      </p:sp>
      <p:sp>
        <p:nvSpPr>
          <p:cNvPr id="11" name="Google-Shape-340-p61-12">
            <a:extLst xmlns:a="http://schemas.openxmlformats.org/drawingml/2006/main">
              <a:ext uri="{FF2B5EF4-FFF2-40B4-BE49-F238E27FC236}">
                <a16:creationId xmlns:a16="http://schemas.microsoft.com/office/drawing/2014/main" id="{6C56028A-8BF8-4A45-AFE9-5C2E99E98A1F}"/>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63506F0A-EDC1-4C3B-857C-3FE07E9EFF63}"/>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Batch product-image standardization</a:t>
            </a:r>
          </a:p>
          <a:p xmlns:a="http://schemas.openxmlformats.org/drawingml/2006/main">
            <a:pPr algn="l">
              <a:defRPr sz="1600">
                <a:solidFill>
                  <a:srgbClr val="000000"/>
                </a:solidFill>
                <a:latin typeface="Helvetica Neue"/>
                <a:ea typeface="Helvetica Neue"/>
                <a:cs typeface="Helvetica Neue"/>
              </a:defRPr>
            </a:pPr>
            <a:r>
              <a:t>Center crop, bilinear resize, brightness adjustment, and watermark blending repeat across millions of pixels.</a:t>
            </a:r>
          </a:p>
          <a:p xmlns:a="http://schemas.openxmlformats.org/drawingml/2006/main">
            <a:pPr algn="l">
              <a:defRPr sz="1600">
                <a:solidFill>
                  <a:srgbClr val="000000"/>
                </a:solidFill>
                <a:latin typeface="Helvetica Neue"/>
                <a:ea typeface="Helvetica Neue"/>
                <a:cs typeface="Helvetica Neue"/>
              </a:defRPr>
            </a:pPr>
            <a:r>
              <a:t>Every output is 1024×1024, while input dimensions and content vary.</a:t>
            </a:r>
          </a:p>
        </p:txBody>
      </p:sp>
    </p:spTree>
    <p:extLst>
      <p:ext uri="{BB962C8B-B14F-4D97-AF65-F5344CB8AC3E}">
        <p14:creationId xmlns:p14="http://schemas.microsoft.com/office/powerpoint/2010/main" val="104177844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73358031-B95B-4DDA-A4BA-43A3A641726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Title-10-3">
            <a:extLst xmlns:a="http://schemas.openxmlformats.org/drawingml/2006/main">
              <a:ext uri="{FF2B5EF4-FFF2-40B4-BE49-F238E27FC236}">
                <a16:creationId xmlns:a16="http://schemas.microsoft.com/office/drawing/2014/main" id="{B565D880-7950-497C-9AB5-5318E1DEE0DB}"/>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One pipeline isolates performance differences to the backend</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7CD4D3E1-A37E-4B9C-9E34-46792E7C4FFD}"/>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223DFCB4-24E3-4AFA-83F6-D028470EDDC8}"/>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69A7841A-A856-48DD-8449-E9B905CDD19B}"/>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2B315076-4515-416D-B22E-48B28B676835}"/>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01 · INGEST</a:t>
            </a:r>
          </a:p>
        </p:txBody>
      </p:sp>
      <p:sp>
        <p:nvSpPr>
          <p:cNvPr id="8" name="Content-Placeholder-15-9">
            <a:extLst xmlns:a="http://schemas.openxmlformats.org/drawingml/2006/main">
              <a:ext uri="{FF2B5EF4-FFF2-40B4-BE49-F238E27FC236}">
                <a16:creationId xmlns:a16="http://schemas.microsoft.com/office/drawing/2014/main" id="{933F0F4B-90D2-4032-9167-C0F664CD56E5}"/>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02 · COMPUTE</a:t>
            </a:r>
          </a:p>
        </p:txBody>
      </p:sp>
      <p:sp>
        <p:nvSpPr>
          <p:cNvPr id="9" name="Content-Placeholder-15-10">
            <a:extLst xmlns:a="http://schemas.openxmlformats.org/drawingml/2006/main">
              <a:ext uri="{FF2B5EF4-FFF2-40B4-BE49-F238E27FC236}">
                <a16:creationId xmlns:a16="http://schemas.microsoft.com/office/drawing/2014/main" id="{3D3B5025-A83C-44E4-813F-9B2E9B540BAF}"/>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03 · EVIDENCE</a:t>
            </a:r>
          </a:p>
        </p:txBody>
      </p:sp>
      <p:sp>
        <p:nvSpPr>
          <p:cNvPr id="10" name="Text-Placeholder-16-11">
            <a:extLst xmlns:a="http://schemas.openxmlformats.org/drawingml/2006/main">
              <a:ext uri="{FF2B5EF4-FFF2-40B4-BE49-F238E27FC236}">
                <a16:creationId xmlns:a16="http://schemas.microsoft.com/office/drawing/2014/main" id="{C765CE7E-EEF4-43E6-9670-A3A5E69FD5CE}"/>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Fixed pixel semantics</a:t>
            </a:r>
          </a:p>
          <a:p xmlns:a="http://schemas.openxmlformats.org/drawingml/2006/main">
            <a:pPr algn="l">
              <a:defRPr sz="2400">
                <a:solidFill>
                  <a:srgbClr val="000000"/>
                </a:solidFill>
                <a:latin typeface="Helvetica Neue"/>
                <a:ea typeface="Helvetica Neue"/>
                <a:cs typeface="Helvetica Neue"/>
              </a:defRPr>
            </a:pPr>
            <a:r>
              <a:t>Center crop → bilinear resize
Brightness → watermark</a:t>
            </a:r>
          </a:p>
        </p:txBody>
      </p:sp>
      <p:sp>
        <p:nvSpPr>
          <p:cNvPr id="11" name="Text-Placeholder-16-12">
            <a:extLst xmlns:a="http://schemas.openxmlformats.org/drawingml/2006/main">
              <a:ext uri="{FF2B5EF4-FFF2-40B4-BE49-F238E27FC236}">
                <a16:creationId xmlns:a16="http://schemas.microsoft.com/office/drawing/2014/main" id="{7881A96A-F519-4EA5-9DEB-AA12E898B065}"/>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Stable input</a:t>
            </a:r>
          </a:p>
          <a:p xmlns:a="http://schemas.openxmlformats.org/drawingml/2006/main">
            <a:pPr algn="l">
              <a:defRPr sz="2400">
                <a:solidFill>
                  <a:srgbClr val="000000"/>
                </a:solidFill>
                <a:latin typeface="Helvetica Neue"/>
                <a:ea typeface="Helvetica Neue"/>
                <a:cs typeface="Helvetica Neue"/>
              </a:defRPr>
            </a:pPr>
            <a:r>
              <a:t>Scan → sort → decode
Skip corrupt files; contiguous BGR</a:t>
            </a:r>
          </a:p>
        </p:txBody>
      </p:sp>
      <p:sp>
        <p:nvSpPr>
          <p:cNvPr id="12" name="Text-Placeholder-16-13">
            <a:extLst xmlns:a="http://schemas.openxmlformats.org/drawingml/2006/main">
              <a:ext uri="{FF2B5EF4-FFF2-40B4-BE49-F238E27FC236}">
                <a16:creationId xmlns:a16="http://schemas.microsoft.com/office/drawing/2014/main" id="{7BC26B9B-EAE2-479F-ABAA-26302616FE2F}"/>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Validation &amp; reporting</a:t>
            </a:r>
          </a:p>
          <a:p xmlns:a="http://schemas.openxmlformats.org/drawingml/2006/main">
            <a:pPr algn="l">
              <a:defRPr sz="2400">
                <a:solidFill>
                  <a:srgbClr val="000000"/>
                </a:solidFill>
                <a:latin typeface="Helvetica Neue"/>
                <a:ea typeface="Helvetica Neue"/>
                <a:cs typeface="Helvetica Neue"/>
              </a:defRPr>
            </a:pPr>
            <a:r>
              <a:t>PNG round-trip validation
Statistics → atomic CSV → dashboard</a:t>
            </a:r>
          </a:p>
        </p:txBody>
      </p:sp>
    </p:spTree>
    <p:extLst>
      <p:ext uri="{BB962C8B-B14F-4D97-AF65-F5344CB8AC3E}">
        <p14:creationId xmlns:p14="http://schemas.microsoft.com/office/powerpoint/2010/main" val="16162228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CAC86562-1E10-4F1E-B62F-450C4F06DF3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Title-10-3">
            <a:extLst xmlns:a="http://schemas.openxmlformats.org/drawingml/2006/main">
              <a:ext uri="{FF2B5EF4-FFF2-40B4-BE49-F238E27FC236}">
                <a16:creationId xmlns:a16="http://schemas.microsoft.com/office/drawing/2014/main" id="{2923B99D-6E5F-476F-88AF-F9AD631D10E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One controller, three replaceable compute backends</a:t>
            </a:r>
          </a:p>
        </p:txBody>
      </p:sp>
      <p:cxnSp>
        <p:nvCxnSpPr>
          <p:cNvPr id="18"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BD14000-0BAE-4D1E-A7EA-D407D00C2AD0}"/>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C4509237-216E-4F63-A168-EB0DCBD18AAA}"/>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00A530E7-46B8-4CA4-9369-74064AA2AA89}"/>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3756A508-97C5-44EB-8E0E-067A954E622B}"/>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507EC420-741D-4566-95B5-2382ACDCF03B}"/>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M1 + M2 + M3</a:t>
            </a:r>
          </a:p>
          <a:p xmlns:a="http://schemas.openxmlformats.org/drawingml/2006/main">
            <a:pPr algn="l">
              <a:defRPr sz="1600">
                <a:solidFill>
                  <a:srgbClr val="000000"/>
                </a:solidFill>
                <a:latin typeface="Helvetica Neue"/>
                <a:ea typeface="Helvetica Neue"/>
                <a:cs typeface="Helvetica Neue"/>
              </a:defRPr>
            </a:pPr>
            <a:r>
              <a:t>Dashboard / CLI / Controller
Input, planning, logs, and exit codes</a:t>
            </a:r>
          </a:p>
        </p:txBody>
      </p:sp>
      <p:sp>
        <p:nvSpPr>
          <p:cNvPr id="9" name="Rounded-Rectangle-21-10">
            <a:extLst xmlns:a="http://schemas.openxmlformats.org/drawingml/2006/main">
              <a:ext uri="{FF2B5EF4-FFF2-40B4-BE49-F238E27FC236}">
                <a16:creationId xmlns:a16="http://schemas.microsoft.com/office/drawing/2014/main" id="{563DA645-F237-4820-81E2-266909175551}"/>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D0638FE4-CB1B-4300-BC2D-852DBB3DBAFE}"/>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IBackendExecutor</a:t>
            </a:r>
          </a:p>
          <a:p xmlns:a="http://schemas.openxmlformats.org/drawingml/2006/main">
            <a:pPr algn="l">
              <a:defRPr sz="1600">
                <a:solidFill>
                  <a:srgbClr val="000000"/>
                </a:solidFill>
                <a:latin typeface="Helvetica Neue"/>
                <a:ea typeface="Helvetica Neue"/>
                <a:cs typeface="Helvetica Neue"/>
              </a:defRPr>
            </a:pPr>
            <a:r>
              <a:t>M4 Sequential
M5 OpenMP
M6 CUDA</a:t>
            </a:r>
          </a:p>
        </p:txBody>
      </p:sp>
      <p:sp>
        <p:nvSpPr>
          <p:cNvPr id="11" name="Rounded-Rectangle-23-12">
            <a:extLst xmlns:a="http://schemas.openxmlformats.org/drawingml/2006/main">
              <a:ext uri="{FF2B5EF4-FFF2-40B4-BE49-F238E27FC236}">
                <a16:creationId xmlns:a16="http://schemas.microsoft.com/office/drawing/2014/main" id="{E02A12E7-DE61-4A87-8D27-7DF7E0DBA460}"/>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CE5039CC-6905-4FBB-9135-CB276556857A}"/>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M7 Benchmark</a:t>
            </a:r>
          </a:p>
          <a:p xmlns:a="http://schemas.openxmlformats.org/drawingml/2006/main">
            <a:pPr algn="l">
              <a:defRPr sz="1600">
                <a:solidFill>
                  <a:srgbClr val="000000"/>
                </a:solidFill>
                <a:latin typeface="Helvetica Neue"/>
                <a:ea typeface="Helvetica Neue"/>
                <a:cs typeface="Helvetica Neue"/>
              </a:defRPr>
            </a:pPr>
            <a:r>
              <a:t>Validation gate, layered timing, statistics
27-column CSV feeds M1</a:t>
            </a:r>
          </a:p>
        </p:txBody>
      </p:sp>
      <p:sp>
        <p:nvSpPr>
          <p:cNvPr id="13" name="Text-Placeholder-16-14">
            <a:extLst xmlns:a="http://schemas.openxmlformats.org/drawingml/2006/main">
              <a:ext uri="{FF2B5EF4-FFF2-40B4-BE49-F238E27FC236}">
                <a16:creationId xmlns:a16="http://schemas.microsoft.com/office/drawing/2014/main" id="{7560F06F-FA43-4863-B50E-912A43E67CCC}"/>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BACKENDS</a:t>
            </a:r>
          </a:p>
        </p:txBody>
      </p:sp>
      <p:sp>
        <p:nvSpPr>
          <p:cNvPr id="14" name="Text-Placeholder-16-15">
            <a:extLst xmlns:a="http://schemas.openxmlformats.org/drawingml/2006/main">
              <a:ext uri="{FF2B5EF4-FFF2-40B4-BE49-F238E27FC236}">
                <a16:creationId xmlns:a16="http://schemas.microsoft.com/office/drawing/2014/main" id="{CDDAD56D-893B-4363-A698-1DF1267A519C}"/>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CONTROL</a:t>
            </a:r>
          </a:p>
        </p:txBody>
      </p:sp>
      <p:sp>
        <p:nvSpPr>
          <p:cNvPr id="15" name="Text-Placeholder-16-16">
            <a:extLst xmlns:a="http://schemas.openxmlformats.org/drawingml/2006/main">
              <a:ext uri="{FF2B5EF4-FFF2-40B4-BE49-F238E27FC236}">
                <a16:creationId xmlns:a16="http://schemas.microsoft.com/office/drawing/2014/main" id="{E0CB56D7-3F05-4CB9-A639-6782C684925C}"/>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EVIDENCE</a:t>
            </a:r>
          </a:p>
        </p:txBody>
      </p:sp>
    </p:spTree>
    <p:extLst>
      <p:ext uri="{BB962C8B-B14F-4D97-AF65-F5344CB8AC3E}">
        <p14:creationId xmlns:p14="http://schemas.microsoft.com/office/powerpoint/2010/main" val="5762385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501CF754-A4AC-4E3A-9380-12EF7D3B6B2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03AF77F1-5BEA-47DE-B3CF-0CB72A618169}"/>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Lock down semantics before measuring speed</a:t>
            </a:r>
          </a:p>
        </p:txBody>
      </p:sp>
      <p:sp>
        <p:nvSpPr>
          <p:cNvPr id="3" name="Rounded-Rectangle-1-4">
            <a:extLst xmlns:a="http://schemas.openxmlformats.org/drawingml/2006/main">
              <a:ext uri="{FF2B5EF4-FFF2-40B4-BE49-F238E27FC236}">
                <a16:creationId xmlns:a16="http://schemas.microsoft.com/office/drawing/2014/main" id="{EB0D7550-D9BF-41A7-AB08-5C6AB3670816}"/>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804644D9-C6CA-4B84-9973-5EF8E243A18C}"/>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OpenMP</a:t>
            </a:r>
          </a:p>
        </p:txBody>
      </p:sp>
      <p:sp>
        <p:nvSpPr>
          <p:cNvPr id="5" name="Content-Placeholder-15-6">
            <a:extLst xmlns:a="http://schemas.openxmlformats.org/drawingml/2006/main">
              <a:ext uri="{FF2B5EF4-FFF2-40B4-BE49-F238E27FC236}">
                <a16:creationId xmlns:a16="http://schemas.microsoft.com/office/drawing/2014/main" id="{F9ED4F8F-0B01-4AE2-8490-5C1A56981561}"/>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Exact pixel match</a:t>
            </a:r>
          </a:p>
          <a:p xmlns:a="http://schemas.openxmlformats.org/drawingml/2006/main">
            <a:pPr algn="l">
              <a:defRPr sz="1600">
                <a:solidFill>
                  <a:srgbClr val="000000"/>
                </a:solidFill>
                <a:latin typeface="Helvetica Neue"/>
                <a:ea typeface="Helvetica Neue"/>
                <a:cs typeface="Helvetica Neue"/>
              </a:defRPr>
            </a:pPr>
            <a:r>
              <a:t>Maximum error = 0</a:t>
            </a:r>
          </a:p>
          <a:p xmlns:a="http://schemas.openxmlformats.org/drawingml/2006/main">
            <a:pPr algn="l">
              <a:defRPr sz="1600">
                <a:solidFill>
                  <a:srgbClr val="000000"/>
                </a:solidFill>
                <a:latin typeface="Helvetica Neue"/>
                <a:ea typeface="Helvetica Neue"/>
                <a:cs typeface="Helvetica Neue"/>
              </a:defRPr>
            </a:pPr>
            <a:r>
              <a:t>No floating-point reduction</a:t>
            </a:r>
          </a:p>
        </p:txBody>
      </p:sp>
      <p:sp>
        <p:nvSpPr>
          <p:cNvPr id="6" name="Rounded-Rectangle-7-7">
            <a:extLst xmlns:a="http://schemas.openxmlformats.org/drawingml/2006/main">
              <a:ext uri="{FF2B5EF4-FFF2-40B4-BE49-F238E27FC236}">
                <a16:creationId xmlns:a16="http://schemas.microsoft.com/office/drawing/2014/main" id="{7463A767-1FFB-479F-ABA6-6C7BDA64B150}"/>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B11A22A8-0382-4FDB-A1D2-306380A64B8A}"/>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CUDA</a:t>
            </a:r>
          </a:p>
        </p:txBody>
      </p:sp>
      <p:sp>
        <p:nvSpPr>
          <p:cNvPr id="8" name="Content-Placeholder-15-9">
            <a:extLst xmlns:a="http://schemas.openxmlformats.org/drawingml/2006/main">
              <a:ext uri="{FF2B5EF4-FFF2-40B4-BE49-F238E27FC236}">
                <a16:creationId xmlns:a16="http://schemas.microsoft.com/office/drawing/2014/main" id="{B5D962D6-BBEC-4AC3-B576-9B31699564E1}"/>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Per-channel error ≤ 1</a:t>
            </a:r>
          </a:p>
          <a:p xmlns:a="http://schemas.openxmlformats.org/drawingml/2006/main">
            <a:pPr algn="l">
              <a:defRPr sz="1600">
                <a:solidFill>
                  <a:srgbClr val="000000"/>
                </a:solidFill>
                <a:latin typeface="Helvetica Neue"/>
                <a:ea typeface="Helvetica Neue"/>
                <a:cs typeface="Helvetica Neue"/>
              </a:defRPr>
            </a:pPr>
            <a:r>
              <a:t>Structural errors reported separately</a:t>
            </a:r>
          </a:p>
          <a:p xmlns:a="http://schemas.openxmlformats.org/drawingml/2006/main">
            <a:pPr algn="l">
              <a:defRPr sz="1600">
                <a:solidFill>
                  <a:srgbClr val="000000"/>
                </a:solidFill>
                <a:latin typeface="Helvetica Neue"/>
                <a:ea typeface="Helvetica Neue"/>
                <a:cs typeface="Helvetica Neue"/>
              </a:defRPr>
            </a:pPr>
            <a:r>
              <a:t>Failed runs publish no speedup</a:t>
            </a:r>
          </a:p>
        </p:txBody>
      </p:sp>
      <p:sp>
        <p:nvSpPr>
          <p:cNvPr id="9" name="Content-Placeholder-15-10">
            <a:extLst xmlns:a="http://schemas.openxmlformats.org/drawingml/2006/main">
              <a:ext uri="{FF2B5EF4-FFF2-40B4-BE49-F238E27FC236}">
                <a16:creationId xmlns:a16="http://schemas.microsoft.com/office/drawing/2014/main" id="{596E3E37-B41C-4B2E-B3DD-8BBA8CADB63C}"/>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Sequential is the semantic oracle</a:t>
            </a:r>
          </a:p>
          <a:p xmlns:a="http://schemas.openxmlformats.org/drawingml/2006/main">
            <a:pPr algn="l">
              <a:defRPr sz="1600">
                <a:solidFill>
                  <a:srgbClr val="000000"/>
                </a:solidFill>
                <a:latin typeface="Helvetica Neue"/>
                <a:ea typeface="Helvetica Neue"/>
                <a:cs typeface="Helvetica Neue"/>
              </a:defRPr>
            </a:pPr>
            <a:r>
              <a:t>Identical crop, sampling, rounding, brightness, and alpha-blend rules.</a:t>
            </a:r>
          </a:p>
          <a:p xmlns:a="http://schemas.openxmlformats.org/drawingml/2006/main">
            <a:pPr algn="l">
              <a:defRPr sz="1600">
                <a:solidFill>
                  <a:srgbClr val="000000"/>
                </a:solidFill>
                <a:latin typeface="Helvetica Neue"/>
                <a:ea typeface="Helvetica Neue"/>
                <a:cs typeface="Helvetica Neue"/>
              </a:defRPr>
            </a:pPr>
            <a:r>
              <a:t>Performance metrics become meaningful only after validation passes.</a:t>
            </a:r>
          </a:p>
        </p:txBody>
      </p:sp>
    </p:spTree>
    <p:extLst>
      <p:ext uri="{BB962C8B-B14F-4D97-AF65-F5344CB8AC3E}">
        <p14:creationId xmlns:p14="http://schemas.microsoft.com/office/powerpoint/2010/main" val="160160594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E7B15115-7719-4314-978C-7D9944E08B1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Title-2-3">
            <a:extLst xmlns:a="http://schemas.openxmlformats.org/drawingml/2006/main">
              <a:ext uri="{FF2B5EF4-FFF2-40B4-BE49-F238E27FC236}">
                <a16:creationId xmlns:a16="http://schemas.microsoft.com/office/drawing/2014/main" id="{CB91DE8E-8D36-4331-9969-9593278693A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Deep dive 1: OpenMP performance depends on granularity</a:t>
            </a:r>
          </a:p>
        </p:txBody>
      </p:sp>
      <p:sp>
        <p:nvSpPr>
          <p:cNvPr id="3" name="Content-Placeholder-9-4">
            <a:extLst xmlns:a="http://schemas.openxmlformats.org/drawingml/2006/main">
              <a:ext uri="{FF2B5EF4-FFF2-40B4-BE49-F238E27FC236}">
                <a16:creationId xmlns:a16="http://schemas.microsoft.com/office/drawing/2014/main" id="{A5AEE058-AD17-49A7-B31A-21998269E580}"/>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Image level · dynamic(1)</a:t>
            </a:r>
          </a:p>
          <a:p xmlns:a="http://schemas.openxmlformats.org/drawingml/2006/main">
            <a:pPr algn="l">
              <a:defRPr sz="2400">
                <a:solidFill>
                  <a:srgbClr val="000000"/>
                </a:solidFill>
                <a:latin typeface="Helvetica Neue"/>
                <a:ea typeface="Helvetica Neue"/>
                <a:cs typeface="Helvetica Neue"/>
              </a:defRPr>
            </a:pPr>
            <a:r>
              <a:t>image_count ≥ threads
Balances unequal image workloads</a:t>
            </a:r>
          </a:p>
        </p:txBody>
      </p:sp>
      <p:sp>
        <p:nvSpPr>
          <p:cNvPr id="4" name="Content-Placeholder-10-5">
            <a:extLst xmlns:a="http://schemas.openxmlformats.org/drawingml/2006/main">
              <a:ext uri="{FF2B5EF4-FFF2-40B4-BE49-F238E27FC236}">
                <a16:creationId xmlns:a16="http://schemas.microsoft.com/office/drawing/2014/main" id="{A7E3869E-873C-4316-AA54-7F9A2AFE51BD}"/>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Row level · static</a:t>
            </a:r>
          </a:p>
          <a:p xmlns:a="http://schemas.openxmlformats.org/drawingml/2006/main">
            <a:pPr algn="l">
              <a:defRPr sz="2400">
                <a:solidFill>
                  <a:srgbClr val="000000"/>
                </a:solidFill>
                <a:latin typeface="Helvetica Neue"/>
                <a:ea typeface="Helvetica Neue"/>
                <a:cs typeface="Helvetica Neue"/>
              </a:defRPr>
            </a:pPr>
            <a:r>
              <a:t>Small batches split output rows
Keeps cores busy when images are few</a:t>
            </a:r>
          </a:p>
        </p:txBody>
      </p:sp>
      <p:sp>
        <p:nvSpPr>
          <p:cNvPr id="5" name="Content-Placeholder-9-6">
            <a:extLst xmlns:a="http://schemas.openxmlformats.org/drawingml/2006/main">
              <a:ext uri="{FF2B5EF4-FFF2-40B4-BE49-F238E27FC236}">
                <a16:creationId xmlns:a16="http://schemas.microsoft.com/office/drawing/2014/main" id="{D4442603-68BC-46F7-B768-40EDB4B563F8}"/>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No nested parallelism</a:t>
            </a:r>
          </a:p>
          <a:p xmlns:a="http://schemas.openxmlformats.org/drawingml/2006/main">
            <a:pPr algn="l">
              <a:defRPr sz="2400">
                <a:solidFill>
                  <a:srgbClr val="000000"/>
                </a:solidFill>
                <a:latin typeface="Helvetica Neue"/>
                <a:ea typeface="Helvetica Neue"/>
                <a:cs typeface="Helvetica Neue"/>
              </a:defRPr>
            </a:pPr>
            <a:r>
              <a:t>Choose one granularity per run
Avoid oversubscription</a:t>
            </a:r>
          </a:p>
        </p:txBody>
      </p:sp>
      <p:sp>
        <p:nvSpPr>
          <p:cNvPr id="6" name="Content-Placeholder-10-7">
            <a:extLst xmlns:a="http://schemas.openxmlformats.org/drawingml/2006/main">
              <a:ext uri="{FF2B5EF4-FFF2-40B4-BE49-F238E27FC236}">
                <a16:creationId xmlns:a16="http://schemas.microsoft.com/office/drawing/2014/main" id="{B4534283-37E7-476D-BEBD-2105439894F0}"/>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Deterministic writes</a:t>
            </a:r>
          </a:p>
          <a:p xmlns:a="http://schemas.openxmlformats.org/drawingml/2006/main">
            <a:pPr algn="l">
              <a:defRPr sz="2400">
                <a:solidFill>
                  <a:srgbClr val="000000"/>
                </a:solidFill>
                <a:latin typeface="Helvetica Neue"/>
                <a:ea typeface="Helvetica Neue"/>
                <a:cs typeface="Helvetica Neue"/>
              </a:defRPr>
            </a:pPr>
            <a:r>
              <a:t>Preallocated output; threads write separate images or rows, with no pixel locks</a:t>
            </a:r>
          </a:p>
        </p:txBody>
      </p:sp>
    </p:spTree>
    <p:extLst>
      <p:ext uri="{BB962C8B-B14F-4D97-AF65-F5344CB8AC3E}">
        <p14:creationId xmlns:p14="http://schemas.microsoft.com/office/powerpoint/2010/main" val="2171471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Slide-Number-Placeholder-3-2">
            <a:extLst xmlns:a="http://schemas.openxmlformats.org/drawingml/2006/main">
              <a:ext uri="{FF2B5EF4-FFF2-40B4-BE49-F238E27FC236}">
                <a16:creationId xmlns:a16="http://schemas.microsoft.com/office/drawing/2014/main" id="{85EB2C14-7B45-47E1-9466-B1EF7A9EA83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Title-10-3">
            <a:extLst xmlns:a="http://schemas.openxmlformats.org/drawingml/2006/main">
              <a:ext uri="{FF2B5EF4-FFF2-40B4-BE49-F238E27FC236}">
                <a16:creationId xmlns:a16="http://schemas.microsoft.com/office/drawing/2014/main" id="{B2FD888B-688F-496A-91A9-5EFC3FA357F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5.34× on 8 threads: efficiency loss is evidence</a:t>
            </a:r>
          </a:p>
        </p:txBody>
      </p:sp>
      <p:sp>
        <p:nvSpPr>
          <p:cNvPr id="3" name="Rounded-Rectangle-36-4">
            <a:extLst xmlns:a="http://schemas.openxmlformats.org/drawingml/2006/main">
              <a:ext uri="{FF2B5EF4-FFF2-40B4-BE49-F238E27FC236}">
                <a16:creationId xmlns:a16="http://schemas.microsoft.com/office/drawing/2014/main" id="{D61BB344-BB2D-46BC-9659-6CBE77EFD667}"/>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Content-Placeholder-9-5">
            <a:extLst xmlns:a="http://schemas.openxmlformats.org/drawingml/2006/main">
              <a:ext uri="{FF2B5EF4-FFF2-40B4-BE49-F238E27FC236}">
                <a16:creationId xmlns:a16="http://schemas.microsoft.com/office/drawing/2014/main" id="{36F0063B-7BBD-480E-9404-8A36EDBD5359}"/>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5.34×</a:t>
            </a:r>
          </a:p>
        </p:txBody>
      </p:sp>
      <p:sp>
        <p:nvSpPr>
          <p:cNvPr id="5" name="Content-Placeholder-15-6">
            <a:extLst xmlns:a="http://schemas.openxmlformats.org/drawingml/2006/main">
              <a:ext uri="{FF2B5EF4-FFF2-40B4-BE49-F238E27FC236}">
                <a16:creationId xmlns:a16="http://schemas.microsoft.com/office/drawing/2014/main" id="{B545E7E8-9DEA-478B-A64C-B699310E52D2}"/>
              </a:ext>
            </a:extLst>
          </p:cNvPr>
          <p:cNvSpPr>
            <a:spLocks xmlns:a="http://schemas.openxmlformats.org/drawingml/2006/main" noGrp="1"/>
          </p:cNvSpPr>
          <p:nvPr/>
        </p:nvSpPr>
        <p:spPr>
          <a:xfrm xmlns:a="http://schemas.openxmlformats.org/drawingml/2006/main">
            <a:off x="6575965"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Measured speedup</a:t>
            </a:r>
          </a:p>
        </p:txBody>
      </p:sp>
      <p:sp>
        <p:nvSpPr>
          <p:cNvPr id="6" name="Rounded-Rectangle-39-7">
            <a:extLst xmlns:a="http://schemas.openxmlformats.org/drawingml/2006/main">
              <a:ext uri="{FF2B5EF4-FFF2-40B4-BE49-F238E27FC236}">
                <a16:creationId xmlns:a16="http://schemas.microsoft.com/office/drawing/2014/main" id="{B2548013-8EEF-4945-956A-AC5D392D0D28}"/>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7" name="Content-Placeholder-9-8">
            <a:extLst xmlns:a="http://schemas.openxmlformats.org/drawingml/2006/main">
              <a:ext uri="{FF2B5EF4-FFF2-40B4-BE49-F238E27FC236}">
                <a16:creationId xmlns:a16="http://schemas.microsoft.com/office/drawing/2014/main" id="{5F1E77A9-89CD-489A-99FA-9D39D5F4BBB6}"/>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66.8%</a:t>
            </a:r>
          </a:p>
        </p:txBody>
      </p:sp>
      <p:sp>
        <p:nvSpPr>
          <p:cNvPr id="8" name="Content-Placeholder-15-9">
            <a:extLst xmlns:a="http://schemas.openxmlformats.org/drawingml/2006/main">
              <a:ext uri="{FF2B5EF4-FFF2-40B4-BE49-F238E27FC236}">
                <a16:creationId xmlns:a16="http://schemas.microsoft.com/office/drawing/2014/main" id="{F19952BB-C21B-49BE-86BF-B3EEFBA6038D}"/>
              </a:ext>
            </a:extLst>
          </p:cNvPr>
          <p:cNvSpPr>
            <a:spLocks xmlns:a="http://schemas.openxmlformats.org/drawingml/2006/main" noGrp="1"/>
          </p:cNvSpPr>
          <p:nvPr/>
        </p:nvSpPr>
        <p:spPr>
          <a:xfrm xmlns:a="http://schemas.openxmlformats.org/drawingml/2006/main">
            <a:off x="9528143"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Parallel efficiency E=S/N</a:t>
            </a:r>
          </a:p>
        </p:txBody>
      </p:sp>
      <p:sp>
        <p:nvSpPr>
          <p:cNvPr id="9" name="Content-Placeholder-2-10">
            <a:extLst xmlns:a="http://schemas.openxmlformats.org/drawingml/2006/main">
              <a:ext uri="{FF2B5EF4-FFF2-40B4-BE49-F238E27FC236}">
                <a16:creationId xmlns:a16="http://schemas.microsoft.com/office/drawing/2014/main" id="{04F79861-E8BE-470E-AE83-B0EB29228605}"/>
              </a:ext>
            </a:extLst>
          </p:cNvPr>
          <p:cNvSpPr>
            <a:spLocks xmlns:a="http://schemas.openxmlformats.org/drawingml/2006/main" noGrp="1"/>
          </p:cNvSpPr>
          <p:nvPr/>
        </p:nvSpPr>
        <p:spPr>
          <a:xfrm xmlns:a="http://schemas.openxmlformats.org/drawingml/2006/main">
            <a:off x="6261068" y="1955578"/>
            <a:ext cx="5539835"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6 real product images · compute 679.50 → 127.16 ms · pixel error = 0</a:t>
            </a:r>
          </a:p>
        </p:txBody>
      </p:sp>
      <p:graphicFrame>
        <p:nvGraphicFramePr>
          <p:cNvPr id="20" name="Chart"/>
          <p:cNvGraphicFramePr/>
          <p:nvPr/>
        </p:nvGraphicFramePr>
        <p:xfrm>
          <a:off xmlns:a="http://schemas.openxmlformats.org/drawingml/2006/main" x="385858" y="1254728"/>
          <a:ext xmlns:a="http://schemas.openxmlformats.org/drawingml/2006/main" cx="5534216" cy="5024533"/>
        </p:xfrm>
        <a:graphic xmlns:a="http://schemas.openxmlformats.org/drawingml/2006/main">
          <a:graphicData uri="http://schemas.openxmlformats.org/drawingml/2006/chart">
            <c:chart xmlns:r="http://schemas.openxmlformats.org/officeDocument/2006/relationships" xmlns:c="http://schemas.openxmlformats.org/drawingml/2006/chart" r:id="R36c24993eded463e"/>
          </a:graphicData>
        </a:graphic>
      </p:graphicFrame>
    </p:spTree>
    <p:extLst>
      <p:ext uri="{BB962C8B-B14F-4D97-AF65-F5344CB8AC3E}">
        <p14:creationId xmlns:p14="http://schemas.microsoft.com/office/powerpoint/2010/main" val="193256428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FE90626D-34B3-465B-83DF-867A48570D5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Google-Shape-533-p58-3">
            <a:extLst xmlns:a="http://schemas.openxmlformats.org/drawingml/2006/main">
              <a:ext uri="{FF2B5EF4-FFF2-40B4-BE49-F238E27FC236}">
                <a16:creationId xmlns:a16="http://schemas.microsoft.com/office/drawing/2014/main" id="{ADD73B3A-D0E1-40C9-9444-3E4C61925D3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Deep dive 2: CUDA fusion reduces global-memory traffic</a:t>
            </a:r>
          </a:p>
        </p:txBody>
      </p:sp>
      <p:sp>
        <p:nvSpPr>
          <p:cNvPr id="3" name="Content-Placeholder-10-4">
            <a:extLst xmlns:a="http://schemas.openxmlformats.org/drawingml/2006/main">
              <a:ext uri="{FF2B5EF4-FFF2-40B4-BE49-F238E27FC236}">
                <a16:creationId xmlns:a16="http://schemas.microsoft.com/office/drawing/2014/main" id="{C90D8899-FC40-406D-8F12-3CAEF333B032}"/>
              </a:ext>
            </a:extLst>
          </p:cNvPr>
          <p:cNvSpPr>
            <a:spLocks xmlns:a="http://schemas.openxmlformats.org/drawingml/2006/main" noGrp="1"/>
          </p:cNvSpPr>
          <p:nvPr/>
        </p:nvSpPr>
        <p:spPr>
          <a:xfrm xmlns:a="http://schemas.openxmlformats.org/drawingml/2006/main">
            <a:off x="6972300" y="23748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Packed variable-size BGR + descriptors</a:t>
            </a:r>
          </a:p>
        </p:txBody>
      </p:sp>
      <p:sp>
        <p:nvSpPr>
          <p:cNvPr id="4" name="Content-Placeholder-10-5">
            <a:extLst xmlns:a="http://schemas.openxmlformats.org/drawingml/2006/main">
              <a:ext uri="{FF2B5EF4-FFF2-40B4-BE49-F238E27FC236}">
                <a16:creationId xmlns:a16="http://schemas.microsoft.com/office/drawing/2014/main" id="{D4A74806-8992-4F25-98B0-242AA4B77EC8}"/>
              </a:ext>
            </a:extLst>
          </p:cNvPr>
          <p:cNvSpPr>
            <a:spLocks xmlns:a="http://schemas.openxmlformats.org/drawingml/2006/main" noGrp="1"/>
          </p:cNvSpPr>
          <p:nvPr/>
        </p:nvSpPr>
        <p:spPr>
          <a:xfrm xmlns:a="http://schemas.openxmlformats.org/drawingml/2006/main">
            <a:off x="4851368" y="23748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DATA</a:t>
            </a:r>
          </a:p>
        </p:txBody>
      </p:sp>
      <p:sp>
        <p:nvSpPr>
          <p:cNvPr id="5" name="Content-Placeholder-10-6">
            <a:extLst xmlns:a="http://schemas.openxmlformats.org/drawingml/2006/main">
              <a:ext uri="{FF2B5EF4-FFF2-40B4-BE49-F238E27FC236}">
                <a16:creationId xmlns:a16="http://schemas.microsoft.com/office/drawing/2014/main" id="{75EB17F9-DE65-426C-8814-4F94783C1EDD}"/>
              </a:ext>
            </a:extLst>
          </p:cNvPr>
          <p:cNvSpPr>
            <a:spLocks xmlns:a="http://schemas.openxmlformats.org/drawingml/2006/main" noGrp="1"/>
          </p:cNvSpPr>
          <p:nvPr/>
        </p:nvSpPr>
        <p:spPr>
          <a:xfrm xmlns:a="http://schemas.openxmlformats.org/drawingml/2006/main">
            <a:off x="6972300" y="33654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Fused resize + brightness + watermark</a:t>
            </a:r>
          </a:p>
        </p:txBody>
      </p:sp>
      <p:sp>
        <p:nvSpPr>
          <p:cNvPr id="6" name="Content-Placeholder-10-7">
            <a:extLst xmlns:a="http://schemas.openxmlformats.org/drawingml/2006/main">
              <a:ext uri="{FF2B5EF4-FFF2-40B4-BE49-F238E27FC236}">
                <a16:creationId xmlns:a16="http://schemas.microsoft.com/office/drawing/2014/main" id="{F85FC642-1643-4E9C-9680-1F37F4FD0239}"/>
              </a:ext>
            </a:extLst>
          </p:cNvPr>
          <p:cNvSpPr>
            <a:spLocks xmlns:a="http://schemas.openxmlformats.org/drawingml/2006/main" noGrp="1"/>
          </p:cNvSpPr>
          <p:nvPr/>
        </p:nvSpPr>
        <p:spPr>
          <a:xfrm xmlns:a="http://schemas.openxmlformats.org/drawingml/2006/main">
            <a:off x="4851368" y="33654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KERNEL</a:t>
            </a:r>
          </a:p>
        </p:txBody>
      </p:sp>
      <p:sp>
        <p:nvSpPr>
          <p:cNvPr id="7" name="Content-Placeholder-10-8">
            <a:extLst xmlns:a="http://schemas.openxmlformats.org/drawingml/2006/main">
              <a:ext uri="{FF2B5EF4-FFF2-40B4-BE49-F238E27FC236}">
                <a16:creationId xmlns:a16="http://schemas.microsoft.com/office/drawing/2014/main" id="{4EB60691-6AC0-4646-85F6-57509BD5C75E}"/>
              </a:ext>
            </a:extLst>
          </p:cNvPr>
          <p:cNvSpPr>
            <a:spLocks xmlns:a="http://schemas.openxmlformats.org/drawingml/2006/main" noGrp="1"/>
          </p:cNvSpPr>
          <p:nvPr/>
        </p:nvSpPr>
        <p:spPr>
          <a:xfrm xmlns:a="http://schemas.openxmlformats.org/drawingml/2006/main">
            <a:off x="6972300" y="4356068"/>
            <a:ext cx="4826032"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Single stream: H2D → kernel → D2H</a:t>
            </a:r>
          </a:p>
        </p:txBody>
      </p:sp>
      <p:sp>
        <p:nvSpPr>
          <p:cNvPr id="8" name="Content-Placeholder-10-9">
            <a:extLst xmlns:a="http://schemas.openxmlformats.org/drawingml/2006/main">
              <a:ext uri="{FF2B5EF4-FFF2-40B4-BE49-F238E27FC236}">
                <a16:creationId xmlns:a16="http://schemas.microsoft.com/office/drawing/2014/main" id="{A535938B-01A1-4830-90E4-D3B28B7E0EEE}"/>
              </a:ext>
            </a:extLst>
          </p:cNvPr>
          <p:cNvSpPr>
            <a:spLocks xmlns:a="http://schemas.openxmlformats.org/drawingml/2006/main" noGrp="1"/>
          </p:cNvSpPr>
          <p:nvPr/>
        </p:nvSpPr>
        <p:spPr>
          <a:xfrm xmlns:a="http://schemas.openxmlformats.org/drawingml/2006/main">
            <a:off x="4851368" y="4356068"/>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TIMING</a:t>
            </a:r>
          </a:p>
        </p:txBody>
      </p:sp>
      <p:sp>
        <p:nvSpPr>
          <p:cNvPr id="9" name="Content-Placeholder-10-10">
            <a:extLst xmlns:a="http://schemas.openxmlformats.org/drawingml/2006/main">
              <a:ext uri="{FF2B5EF4-FFF2-40B4-BE49-F238E27FC236}">
                <a16:creationId xmlns:a16="http://schemas.microsoft.com/office/drawing/2014/main" id="{5605E00F-166F-44DF-BE1E-C5266D4B33D1}"/>
              </a:ext>
            </a:extLst>
          </p:cNvPr>
          <p:cNvSpPr>
            <a:spLocks xmlns:a="http://schemas.openxmlformats.org/drawingml/2006/main" noGrp="1"/>
          </p:cNvSpPr>
          <p:nvPr/>
        </p:nvSpPr>
        <p:spPr>
          <a:xfrm xmlns:a="http://schemas.openxmlformats.org/drawingml/2006/main">
            <a:off x="6972300" y="5359432"/>
            <a:ext cx="4826032" cy="647700"/>
          </a:xfrm>
          <a:prstGeom xmlns:a="http://schemas.openxmlformats.org/drawingml/2006/main" prst="rect">
            <a:avLst/>
          </a:prstGeom>
        </p:spPr>
        <p:txBody>
          <a:bodyPr xmlns:a="http://schemas.openxmlformats.org/drawingml/2006/main" lIns="0" tIns="0" rIns="0" bIns="0">
            <a:normAutofit fontScale="96067"/>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On OOM, halve the batch and retry once</a:t>
            </a:r>
          </a:p>
        </p:txBody>
      </p:sp>
      <p:sp>
        <p:nvSpPr>
          <p:cNvPr id="10" name="Content-Placeholder-10-11">
            <a:extLst xmlns:a="http://schemas.openxmlformats.org/drawingml/2006/main">
              <a:ext uri="{FF2B5EF4-FFF2-40B4-BE49-F238E27FC236}">
                <a16:creationId xmlns:a16="http://schemas.microsoft.com/office/drawing/2014/main" id="{84F45E43-0637-40A0-A8FC-12BDBE02D413}"/>
              </a:ext>
            </a:extLst>
          </p:cNvPr>
          <p:cNvSpPr>
            <a:spLocks xmlns:a="http://schemas.openxmlformats.org/drawingml/2006/main" noGrp="1"/>
          </p:cNvSpPr>
          <p:nvPr/>
        </p:nvSpPr>
        <p:spPr>
          <a:xfrm xmlns:a="http://schemas.openxmlformats.org/drawingml/2006/main">
            <a:off x="4851368" y="5359432"/>
            <a:ext cx="1866900" cy="6477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RESILIENCE</a:t>
            </a:r>
          </a:p>
        </p:txBody>
      </p:sp>
      <p:sp>
        <p:nvSpPr>
          <p:cNvPr id="11" name="Google-Shape-534-p58-12">
            <a:extLst xmlns:a="http://schemas.openxmlformats.org/drawingml/2006/main">
              <a:ext uri="{FF2B5EF4-FFF2-40B4-BE49-F238E27FC236}">
                <a16:creationId xmlns:a16="http://schemas.microsoft.com/office/drawing/2014/main" id="{A1B8172C-3D60-4405-A0C0-F1E9FBD5C6B3}"/>
              </a:ext>
            </a:extLst>
          </p:cNvPr>
          <p:cNvSpPr>
            <a:spLocks xmlns:a="http://schemas.openxmlformats.org/drawingml/2006/main" noGrp="1"/>
          </p:cNvSpPr>
          <p:nvPr/>
        </p:nvSpPr>
        <p:spPr>
          <a:xfrm xmlns:a="http://schemas.openxmlformats.org/drawingml/2006/main">
            <a:off x="393668" y="2374868"/>
            <a:ext cx="3568732" cy="3619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One thread, one output pixel</a:t>
            </a:r>
          </a:p>
          <a:p xmlns:a="http://schemas.openxmlformats.org/drawingml/2006/main">
            <a:pPr algn="l">
              <a:defRPr sz="2400">
                <a:solidFill>
                  <a:srgbClr val="000000"/>
                </a:solidFill>
                <a:latin typeface="Helvetica Neue"/>
                <a:ea typeface="Helvetica Neue"/>
                <a:cs typeface="Helvetica Neue"/>
              </a:defRPr>
            </a:pPr>
            <a:r>
              <a:t>A 16×16 block covers the output plane with grid.x/y; grid.z selects the image.</a:t>
            </a:r>
          </a:p>
          <a:p xmlns:a="http://schemas.openxmlformats.org/drawingml/2006/main">
            <a:pPr algn="l">
              <a:defRPr sz="2400">
                <a:solidFill>
                  <a:srgbClr val="000000"/>
                </a:solidFill>
                <a:latin typeface="Helvetica Neue"/>
                <a:ea typeface="Helvetica Neue"/>
                <a:cs typeface="Helvetica Neue"/>
              </a:defRPr>
            </a:pPr>
            <a:r>
              <a:t>Each thread completes three-channel bilinear sampling, brightness, and watermark blending.</a:t>
            </a:r>
          </a:p>
        </p:txBody>
      </p:sp>
    </p:spTree>
    <p:extLst>
      <p:ext uri="{BB962C8B-B14F-4D97-AF65-F5344CB8AC3E}">
        <p14:creationId xmlns:p14="http://schemas.microsoft.com/office/powerpoint/2010/main" val="12408241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0" name="Slide-Number-Placeholder-3-2">
            <a:extLst xmlns:a="http://schemas.openxmlformats.org/drawingml/2006/main">
              <a:ext uri="{FF2B5EF4-FFF2-40B4-BE49-F238E27FC236}">
                <a16:creationId xmlns:a16="http://schemas.microsoft.com/office/drawing/2014/main" id="{B62CBA4B-C515-441F-82F4-C78674FEBCE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9</a:t>
            </a:r>
          </a:p>
        </p:txBody>
      </p:sp>
      <p:sp>
        <p:nvSpPr>
          <p:cNvPr id="2" name="Title-10-3">
            <a:extLst xmlns:a="http://schemas.openxmlformats.org/drawingml/2006/main">
              <a:ext uri="{FF2B5EF4-FFF2-40B4-BE49-F238E27FC236}">
                <a16:creationId xmlns:a16="http://schemas.microsoft.com/office/drawing/2014/main" id="{84845FE1-BF88-4C6E-BDCE-D6132757862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GPU kernel is only part of compute time</a:t>
            </a:r>
          </a:p>
        </p:txBody>
      </p:sp>
      <p:sp>
        <p:nvSpPr>
          <p:cNvPr id="3" name="Content-Placeholder-9-4">
            <a:extLst xmlns:a="http://schemas.openxmlformats.org/drawingml/2006/main">
              <a:ext uri="{FF2B5EF4-FFF2-40B4-BE49-F238E27FC236}">
                <a16:creationId xmlns:a16="http://schemas.microsoft.com/office/drawing/2014/main" id="{275E0AE1-59E1-4240-8E92-D8620A60FEA1}"/>
              </a:ext>
            </a:extLst>
          </p:cNvPr>
          <p:cNvSpPr>
            <a:spLocks xmlns:a="http://schemas.openxmlformats.org/drawingml/2006/main" noGrp="1"/>
          </p:cNvSpPr>
          <p:nvPr/>
        </p:nvSpPr>
        <p:spPr>
          <a:xfrm xmlns:a="http://schemas.openxmlformats.org/drawingml/2006/main">
            <a:off x="6366129" y="4072319"/>
            <a:ext cx="2133314" cy="903732"/>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14.63×</a:t>
            </a:r>
          </a:p>
        </p:txBody>
      </p:sp>
      <p:sp>
        <p:nvSpPr>
          <p:cNvPr id="4" name="Content-Placeholder-15-5">
            <a:extLst xmlns:a="http://schemas.openxmlformats.org/drawingml/2006/main">
              <a:ext uri="{FF2B5EF4-FFF2-40B4-BE49-F238E27FC236}">
                <a16:creationId xmlns:a16="http://schemas.microsoft.com/office/drawing/2014/main" id="{B10C2C1B-0867-4056-8146-87A23657DB55}"/>
              </a:ext>
            </a:extLst>
          </p:cNvPr>
          <p:cNvSpPr>
            <a:spLocks xmlns:a="http://schemas.openxmlformats.org/drawingml/2006/main" noGrp="1"/>
          </p:cNvSpPr>
          <p:nvPr/>
        </p:nvSpPr>
        <p:spPr>
          <a:xfrm xmlns:a="http://schemas.openxmlformats.org/drawingml/2006/main">
            <a:off x="6432804"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vs. same-run Sequential</a:t>
            </a:r>
          </a:p>
        </p:txBody>
      </p:sp>
      <p:sp>
        <p:nvSpPr>
          <p:cNvPr id="5" name="Content-Placeholder-9-6">
            <a:extLst xmlns:a="http://schemas.openxmlformats.org/drawingml/2006/main">
              <a:ext uri="{FF2B5EF4-FFF2-40B4-BE49-F238E27FC236}">
                <a16:creationId xmlns:a16="http://schemas.microsoft.com/office/drawing/2014/main" id="{E56C99C7-2055-4A37-A876-A2B111DEFC17}"/>
              </a:ext>
            </a:extLst>
          </p:cNvPr>
          <p:cNvSpPr>
            <a:spLocks xmlns:a="http://schemas.openxmlformats.org/drawingml/2006/main" noGrp="1"/>
          </p:cNvSpPr>
          <p:nvPr/>
        </p:nvSpPr>
        <p:spPr>
          <a:xfrm xmlns:a="http://schemas.openxmlformats.org/drawingml/2006/main">
            <a:off x="9318403" y="4072319"/>
            <a:ext cx="2133314" cy="903732"/>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41%</a:t>
            </a:r>
          </a:p>
        </p:txBody>
      </p:sp>
      <p:sp>
        <p:nvSpPr>
          <p:cNvPr id="6" name="Content-Placeholder-15-7">
            <a:extLst xmlns:a="http://schemas.openxmlformats.org/drawingml/2006/main">
              <a:ext uri="{FF2B5EF4-FFF2-40B4-BE49-F238E27FC236}">
                <a16:creationId xmlns:a16="http://schemas.microsoft.com/office/drawing/2014/main" id="{C1AF6EBF-A566-4005-8A0A-81E652BAA1D9}"/>
              </a:ext>
            </a:extLst>
          </p:cNvPr>
          <p:cNvSpPr>
            <a:spLocks xmlns:a="http://schemas.openxmlformats.org/drawingml/2006/main" noGrp="1"/>
          </p:cNvSpPr>
          <p:nvPr/>
        </p:nvSpPr>
        <p:spPr>
          <a:xfrm xmlns:a="http://schemas.openxmlformats.org/drawingml/2006/main">
            <a:off x="9384983"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Host + other share of compute</a:t>
            </a:r>
          </a:p>
        </p:txBody>
      </p:sp>
      <p:sp>
        <p:nvSpPr>
          <p:cNvPr id="7" name="Rounded-Rectangle-1-8">
            <a:extLst xmlns:a="http://schemas.openxmlformats.org/drawingml/2006/main">
              <a:ext uri="{FF2B5EF4-FFF2-40B4-BE49-F238E27FC236}">
                <a16:creationId xmlns:a16="http://schemas.microsoft.com/office/drawing/2014/main" id="{FBB4AA62-F754-455C-94A9-1EDA04A97C14}"/>
              </a:ext>
            </a:extLst>
          </p:cNvPr>
          <p:cNvSpPr>
            <a:spLocks xmlns:a="http://schemas.openxmlformats.org/drawingml/2006/main" noGrp="1"/>
          </p:cNvSpPr>
          <p:nvPr/>
        </p:nvSpPr>
        <p:spPr>
          <a:xfrm xmlns:a="http://schemas.openxmlformats.org/drawingml/2006/main">
            <a:off x="393668" y="1041368"/>
            <a:ext cx="5526310" cy="5435060"/>
          </a:xfrm>
          <a:prstGeom xmlns:a="http://schemas.openxmlformats.org/drawingml/2006/main" prst="roundRect">
            <a:avLst>
              <a:gd name="adj" fmla="val 1402"/>
            </a:avLst>
          </a:prstGeom>
          <a:noFill xmlns:a="http://schemas.openxmlformats.org/drawingml/2006/main"/>
          <a:ln xmlns:a="http://schemas.openxmlformats.org/drawingml/2006/main" w="12668">
            <a:solidFill>
              <a:srgbClr val="000000"/>
            </a:solidFill>
            <a:prstDash val="solid"/>
          </a:ln>
        </p:spPr>
      </p:sp>
      <p:sp>
        <p:nvSpPr>
          <p:cNvPr id="8" name="Content-Placeholder-1-9">
            <a:extLst xmlns:a="http://schemas.openxmlformats.org/drawingml/2006/main">
              <a:ext uri="{FF2B5EF4-FFF2-40B4-BE49-F238E27FC236}">
                <a16:creationId xmlns:a16="http://schemas.microsoft.com/office/drawing/2014/main" id="{E0087932-9844-4194-BFC7-0BF97CD7A281}"/>
              </a:ext>
            </a:extLst>
          </p:cNvPr>
          <p:cNvSpPr>
            <a:spLocks xmlns:a="http://schemas.openxmlformats.org/drawingml/2006/main" noGrp="1"/>
          </p:cNvSpPr>
          <p:nvPr/>
        </p:nvSpPr>
        <p:spPr>
          <a:xfrm xmlns:a="http://schemas.openxmlformats.org/drawingml/2006/main">
            <a:off x="6432804" y="1709261"/>
            <a:ext cx="5331619" cy="1614107"/>
          </a:xfrm>
          <a:prstGeom xmlns:a="http://schemas.openxmlformats.org/drawingml/2006/main" prst="rect">
            <a:avLst/>
          </a:prstGeom>
        </p:spPr>
        <p:txBody>
          <a:bodyPr xmlns:a="http://schemas.openxmlformats.org/drawingml/2006/main" lIns="0" tIns="0" rIns="0" bIns="0">
            <a:normAutofit fontScale="8826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RTX 5070 Ti Laptop · 8 images · batch 8</a:t>
            </a:r>
          </a:p>
          <a:p xmlns:a="http://schemas.openxmlformats.org/drawingml/2006/main">
            <a:pPr algn="l">
              <a:defRPr sz="2400">
                <a:solidFill>
                  <a:srgbClr val="000000"/>
                </a:solidFill>
                <a:latin typeface="Helvetica Neue"/>
                <a:ea typeface="Helvetica Neue"/>
                <a:cs typeface="Helvetica Neue"/>
              </a:defRPr>
            </a:pPr>
            <a:r>
              <a:t>compute = 26.71 ms; H2D + kernel + D2H = 15.78 ms. The remaining 10.93 ms comes from host packing, reconstruction, and invocation overhead.</a:t>
            </a:r>
          </a:p>
        </p:txBody>
      </p:sp>
      <p:graphicFrame>
        <p:nvGraphicFramePr>
          <p:cNvPr id="18" name="Chart"/>
          <p:cNvGraphicFramePr/>
          <p:nvPr/>
        </p:nvGraphicFramePr>
        <p:xfrm>
          <a:off xmlns:a="http://schemas.openxmlformats.org/drawingml/2006/main" x="634460" y="1322451"/>
          <a:ext xmlns:a="http://schemas.openxmlformats.org/drawingml/2006/main" cx="5029771" cy="4784598"/>
        </p:xfrm>
        <a:graphic xmlns:a="http://schemas.openxmlformats.org/drawingml/2006/main">
          <a:graphicData uri="http://schemas.openxmlformats.org/drawingml/2006/chart">
            <c:chart xmlns:r="http://schemas.openxmlformats.org/officeDocument/2006/relationships" xmlns:c="http://schemas.openxmlformats.org/drawingml/2006/chart" r:id="Rae0b6419a79145bf"/>
          </a:graphicData>
        </a:graphic>
      </p:graphicFrame>
    </p:spTree>
    <p:extLst>
      <p:ext uri="{BB962C8B-B14F-4D97-AF65-F5344CB8AC3E}">
        <p14:creationId xmlns:p14="http://schemas.microsoft.com/office/powerpoint/2010/main" val="76996805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5" name="Google-Shape-532-p58-2">
            <a:extLst xmlns:a="http://schemas.openxmlformats.org/drawingml/2006/main">
              <a:ext uri="{FF2B5EF4-FFF2-40B4-BE49-F238E27FC236}">
                <a16:creationId xmlns:a16="http://schemas.microsoft.com/office/drawing/2014/main" id="{7EA9B218-D44E-4B7C-839D-35A353C1DC1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2" name="Google-Shape-533-p58-3">
            <a:extLst xmlns:a="http://schemas.openxmlformats.org/drawingml/2006/main">
              <a:ext uri="{FF2B5EF4-FFF2-40B4-BE49-F238E27FC236}">
                <a16:creationId xmlns:a16="http://schemas.microsoft.com/office/drawing/2014/main" id="{269B16CB-7397-42B7-8DF1-B6F7F250F42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Deep dive 3: Fair benchmarking is a system feature</a:t>
            </a:r>
          </a:p>
        </p:txBody>
      </p:sp>
      <p:sp>
        <p:nvSpPr>
          <p:cNvPr id="3" name="Google-Shape-534-p58-4">
            <a:extLst xmlns:a="http://schemas.openxmlformats.org/drawingml/2006/main">
              <a:ext uri="{FF2B5EF4-FFF2-40B4-BE49-F238E27FC236}">
                <a16:creationId xmlns:a16="http://schemas.microsoft.com/office/drawing/2014/main" id="{C1E8B48C-C140-4052-A430-E30843024FD6}"/>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Same inputs, semantics, build, and timing boundaries; validate before computing speedup.</a:t>
            </a:r>
          </a:p>
        </p:txBody>
      </p:sp>
      <p:sp>
        <p:nvSpPr>
          <p:cNvPr id="4" name="Content-Placeholder-10-5">
            <a:extLst xmlns:a="http://schemas.openxmlformats.org/drawingml/2006/main">
              <a:ext uri="{FF2B5EF4-FFF2-40B4-BE49-F238E27FC236}">
                <a16:creationId xmlns:a16="http://schemas.microsoft.com/office/drawing/2014/main" id="{14370DC0-0EE1-4536-8AE1-D86B8BE1B7CB}"/>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Release build</a:t>
            </a:r>
          </a:p>
        </p:txBody>
      </p:sp>
      <p:sp>
        <p:nvSpPr>
          <p:cNvPr id="5" name="Google-Shape-340-p61-6">
            <a:extLst xmlns:a="http://schemas.openxmlformats.org/drawingml/2006/main">
              <a:ext uri="{FF2B5EF4-FFF2-40B4-BE49-F238E27FC236}">
                <a16:creationId xmlns:a16="http://schemas.microsoft.com/office/drawing/2014/main" id="{B4881E01-8D10-4EFA-8AEF-AB9994467586}"/>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2A30CAB4-BB24-44D3-995E-558CF24F6F00}"/>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defRPr sz="1800">
                <a:solidFill>
                  <a:srgbClr val="000000"/>
                </a:solidFill>
                <a:latin typeface="Helvetica Neue"/>
                <a:ea typeface="Helvetica Neue"/>
                <a:cs typeface="Helvetica Neue"/>
              </a:defRPr>
            </a:pPr>
            <a:r>
              <a:t>compute_ms: backend computation; CPU uses steady_clock, while CUDA events only split device phases.</a:t>
            </a:r>
          </a:p>
          <a:p xmlns:a="http://schemas.openxmlformats.org/drawingml/2006/main">
            <a:pPr algn="l">
              <a:defRPr sz="1800">
                <a:solidFill>
                  <a:srgbClr val="000000"/>
                </a:solidFill>
                <a:latin typeface="Helvetica Neue"/>
                <a:ea typeface="Helvetica Neue"/>
                <a:cs typeface="Helvetica Neue"/>
              </a:defRPr>
            </a:pPr>
            <a:r>
              <a:t>end_to_end_ms: scan, decode, compute, and encode; validation and CSV writing are excluded.</a:t>
            </a:r>
          </a:p>
        </p:txBody>
      </p:sp>
      <p:sp>
        <p:nvSpPr>
          <p:cNvPr id="7" name="Content-Placeholder-10-8">
            <a:extLst xmlns:a="http://schemas.openxmlformats.org/drawingml/2006/main">
              <a:ext uri="{FF2B5EF4-FFF2-40B4-BE49-F238E27FC236}">
                <a16:creationId xmlns:a16="http://schemas.microsoft.com/office/drawing/2014/main" id="{28779500-5B04-4B18-A299-18A202498133}"/>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 warmups</a:t>
            </a:r>
          </a:p>
        </p:txBody>
      </p:sp>
      <p:sp>
        <p:nvSpPr>
          <p:cNvPr id="8" name="Google-Shape-340-p61-9">
            <a:extLst xmlns:a="http://schemas.openxmlformats.org/drawingml/2006/main">
              <a:ext uri="{FF2B5EF4-FFF2-40B4-BE49-F238E27FC236}">
                <a16:creationId xmlns:a16="http://schemas.microsoft.com/office/drawing/2014/main" id="{28587C92-4BE6-4978-BC3B-88928290910F}"/>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57030BE2-CA68-439B-B7C0-82C0A3174DB0}"/>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 5 measured repeats</a:t>
            </a:r>
          </a:p>
        </p:txBody>
      </p:sp>
      <p:sp>
        <p:nvSpPr>
          <p:cNvPr id="10" name="Google-Shape-340-p61-11">
            <a:extLst xmlns:a="http://schemas.openxmlformats.org/drawingml/2006/main">
              <a:ext uri="{FF2B5EF4-FFF2-40B4-BE49-F238E27FC236}">
                <a16:creationId xmlns:a16="http://schemas.microsoft.com/office/drawing/2014/main" id="{E1710CFF-80C2-43ED-9E4A-7707365D658F}"/>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A375C6DE-E7A7-4027-BDBC-6938ECE322DC}"/>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median + min/max/stddev</a:t>
            </a:r>
          </a:p>
        </p:txBody>
      </p:sp>
      <p:sp>
        <p:nvSpPr>
          <p:cNvPr id="12" name="Google-Shape-340-p61-13">
            <a:extLst xmlns:a="http://schemas.openxmlformats.org/drawingml/2006/main">
              <a:ext uri="{FF2B5EF4-FFF2-40B4-BE49-F238E27FC236}">
                <a16:creationId xmlns:a16="http://schemas.microsoft.com/office/drawing/2014/main" id="{352E8555-CA9C-46DB-AFCF-B8B51ACBD312}"/>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78AFC967-5D8D-4C95-8A01-7321D0E9E69F}"/>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89708"/>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Valid same-size Sequential baseline</a:t>
            </a:r>
          </a:p>
        </p:txBody>
      </p:sp>
      <p:sp>
        <p:nvSpPr>
          <p:cNvPr id="14" name="Google-Shape-340-p61-15">
            <a:extLst xmlns:a="http://schemas.openxmlformats.org/drawingml/2006/main">
              <a:ext uri="{FF2B5EF4-FFF2-40B4-BE49-F238E27FC236}">
                <a16:creationId xmlns:a16="http://schemas.microsoft.com/office/drawing/2014/main" id="{45C1A4EC-CF3C-4FD4-AE9E-587F3BC43B7D}"/>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Tree>
    <p:extLst>
      <p:ext uri="{BB962C8B-B14F-4D97-AF65-F5344CB8AC3E}">
        <p14:creationId xmlns:p14="http://schemas.microsoft.com/office/powerpoint/2010/main" val="61194754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5C2482ED-5D99-4CE0-9CA7-9B46443A138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2" name="Google-Shape-533-p58-3">
            <a:extLst xmlns:a="http://schemas.openxmlformats.org/drawingml/2006/main">
              <a:ext uri="{FF2B5EF4-FFF2-40B4-BE49-F238E27FC236}">
                <a16:creationId xmlns:a16="http://schemas.microsoft.com/office/drawing/2014/main" id="{3BE521E9-981B-413E-A9DD-E42FE6D8A33D}"/>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system accelerates; a unified ranking needs one experiment</a:t>
            </a:r>
          </a:p>
        </p:txBody>
      </p:sp>
      <p:sp>
        <p:nvSpPr>
          <p:cNvPr id="3" name="Rounded-Rectangle-1-4">
            <a:extLst xmlns:a="http://schemas.openxmlformats.org/drawingml/2006/main">
              <a:ext uri="{FF2B5EF4-FFF2-40B4-BE49-F238E27FC236}">
                <a16:creationId xmlns:a16="http://schemas.microsoft.com/office/drawing/2014/main" id="{6D4D5D96-44FC-4005-B77A-B2F02BFBAE09}"/>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9AFDB7C3-D2B7-4391-AD76-BFBE827FECD4}"/>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Established</a:t>
            </a:r>
          </a:p>
        </p:txBody>
      </p:sp>
      <p:sp>
        <p:nvSpPr>
          <p:cNvPr id="5" name="Content-Placeholder-15-6">
            <a:extLst xmlns:a="http://schemas.openxmlformats.org/drawingml/2006/main">
              <a:ext uri="{FF2B5EF4-FFF2-40B4-BE49-F238E27FC236}">
                <a16:creationId xmlns:a16="http://schemas.microsoft.com/office/drawing/2014/main" id="{29E4CA10-D1A8-4615-897E-B67D7F454518}"/>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M5: 15/15 CLI configurations passed</a:t>
            </a:r>
          </a:p>
          <a:p xmlns:a="http://schemas.openxmlformats.org/drawingml/2006/main">
            <a:pPr algn="l">
              <a:defRPr sz="1600">
                <a:solidFill>
                  <a:srgbClr val="000000"/>
                </a:solidFill>
                <a:latin typeface="Helvetica Neue"/>
                <a:ea typeface="Helvetica Neue"/>
                <a:cs typeface="Helvetica Neue"/>
              </a:defRPr>
            </a:pPr>
            <a:r>
              <a:t>OpenMP pixel error = 0</a:t>
            </a:r>
          </a:p>
          <a:p xmlns:a="http://schemas.openxmlformats.org/drawingml/2006/main">
            <a:pPr algn="l">
              <a:defRPr sz="1600">
                <a:solidFill>
                  <a:srgbClr val="000000"/>
                </a:solidFill>
                <a:latin typeface="Helvetica Neue"/>
                <a:ea typeface="Helvetica Neue"/>
                <a:cs typeface="Helvetica Neue"/>
              </a:defRPr>
            </a:pPr>
            <a:r>
              <a:t>M6: 10/10 on GPU + 0 sanitizer errors</a:t>
            </a:r>
          </a:p>
        </p:txBody>
      </p:sp>
      <p:sp>
        <p:nvSpPr>
          <p:cNvPr id="6" name="Rounded-Rectangle-7-7">
            <a:extLst xmlns:a="http://schemas.openxmlformats.org/drawingml/2006/main">
              <a:ext uri="{FF2B5EF4-FFF2-40B4-BE49-F238E27FC236}">
                <a16:creationId xmlns:a16="http://schemas.microsoft.com/office/drawing/2014/main" id="{905B3F4C-3CF3-43A5-8AF5-B20685A36546}"/>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215E1E2D-C2F5-4FEB-A487-E2AD34005CB8}"/>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Still required</a:t>
            </a:r>
          </a:p>
        </p:txBody>
      </p:sp>
      <p:sp>
        <p:nvSpPr>
          <p:cNvPr id="8" name="Content-Placeholder-15-9">
            <a:extLst xmlns:a="http://schemas.openxmlformats.org/drawingml/2006/main">
              <a:ext uri="{FF2B5EF4-FFF2-40B4-BE49-F238E27FC236}">
                <a16:creationId xmlns:a16="http://schemas.microsoft.com/office/drawing/2014/main" id="{11548CF0-7DF2-4EE8-A152-CE2D401878B8}"/>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Unified M5 + M6 + M7 build regression</a:t>
            </a:r>
          </a:p>
          <a:p xmlns:a="http://schemas.openxmlformats.org/drawingml/2006/main">
            <a:pPr algn="l">
              <a:defRPr sz="1600">
                <a:solidFill>
                  <a:srgbClr val="000000"/>
                </a:solidFill>
                <a:latin typeface="Helvetica Neue"/>
                <a:ea typeface="Helvetica Neue"/>
                <a:cs typeface="Helvetica Neue"/>
              </a:defRPr>
            </a:pPr>
            <a:r>
              <a:t>10/50/100 or 1,000-image matrix</a:t>
            </a:r>
          </a:p>
          <a:p xmlns:a="http://schemas.openxmlformats.org/drawingml/2006/main">
            <a:pPr algn="l">
              <a:defRPr sz="1600">
                <a:solidFill>
                  <a:srgbClr val="000000"/>
                </a:solidFill>
                <a:latin typeface="Helvetica Neue"/>
                <a:ea typeface="Helvetica Neue"/>
                <a:cs typeface="Helvetica Neue"/>
              </a:defRPr>
            </a:pPr>
            <a:r>
              <a:t>All three backends in the same run</a:t>
            </a:r>
          </a:p>
        </p:txBody>
      </p:sp>
      <p:sp>
        <p:nvSpPr>
          <p:cNvPr id="9" name="Content-Placeholder-15-10">
            <a:extLst xmlns:a="http://schemas.openxmlformats.org/drawingml/2006/main">
              <a:ext uri="{FF2B5EF4-FFF2-40B4-BE49-F238E27FC236}">
                <a16:creationId xmlns:a16="http://schemas.microsoft.com/office/drawing/2014/main" id="{67FEAF17-6FEA-498B-B6F4-2E2BB792C5DD}"/>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Evidence status</a:t>
            </a:r>
          </a:p>
          <a:p xmlns:a="http://schemas.openxmlformats.org/drawingml/2006/main">
            <a:pPr algn="l">
              <a:defRPr sz="1600">
                <a:solidFill>
                  <a:srgbClr val="000000"/>
                </a:solidFill>
                <a:latin typeface="Helvetica Neue"/>
                <a:ea typeface="Helvetica Neue"/>
                <a:cs typeface="Helvetica Neue"/>
              </a:defRPr>
            </a:pPr>
            <a:r>
              <a:t>The M1–M7 functional chain is substantially complete.</a:t>
            </a:r>
          </a:p>
          <a:p xmlns:a="http://schemas.openxmlformats.org/drawingml/2006/main">
            <a:pPr algn="l">
              <a:defRPr sz="1600">
                <a:solidFill>
                  <a:srgbClr val="000000"/>
                </a:solidFill>
                <a:latin typeface="Helvetica Neue"/>
                <a:ea typeface="Helvetica Neue"/>
                <a:cs typeface="Helvetica Neue"/>
              </a:defRPr>
            </a:pPr>
            <a:r>
              <a:t>Final conclusions still require one machine, one dataset, and one Release run.</a:t>
            </a:r>
          </a:p>
        </p:txBody>
      </p:sp>
    </p:spTree>
    <p:extLst>
      <p:ext uri="{BB962C8B-B14F-4D97-AF65-F5344CB8AC3E}">
        <p14:creationId xmlns:p14="http://schemas.microsoft.com/office/powerpoint/2010/main" val="11765154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91A8C7DD-43E4-4C4C-8B7C-71A0C8219438}"/>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12</a:t>
            </a:r>
          </a:p>
        </p:txBody>
      </p:sp>
      <p:sp>
        <p:nvSpPr>
          <p:cNvPr id="2" name="Title-2-3">
            <a:extLst xmlns:a="http://schemas.openxmlformats.org/drawingml/2006/main">
              <a:ext uri="{FF2B5EF4-FFF2-40B4-BE49-F238E27FC236}">
                <a16:creationId xmlns:a16="http://schemas.microsoft.com/office/drawing/2014/main" id="{EAF0E6EF-0113-4360-B806-01945630C66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Why not distributed? New variables outweigh current value</a:t>
            </a:r>
          </a:p>
        </p:txBody>
      </p:sp>
      <p:sp>
        <p:nvSpPr>
          <p:cNvPr id="3" name="Content-Placeholder-9-4">
            <a:extLst xmlns:a="http://schemas.openxmlformats.org/drawingml/2006/main">
              <a:ext uri="{FF2B5EF4-FFF2-40B4-BE49-F238E27FC236}">
                <a16:creationId xmlns:a16="http://schemas.microsoft.com/office/drawing/2014/main" id="{1946C26A-07AA-44C0-802C-27775224CA2C}"/>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Data capacity</a:t>
            </a:r>
          </a:p>
          <a:p xmlns:a="http://schemas.openxmlformats.org/drawingml/2006/main">
            <a:pPr algn="l">
              <a:defRPr sz="2400">
                <a:solidFill>
                  <a:srgbClr val="000000"/>
                </a:solidFill>
                <a:latin typeface="Helvetica Neue"/>
                <a:ea typeface="Helvetica Neue"/>
                <a:cs typeface="Helvetica Neue"/>
              </a:defRPr>
            </a:pPr>
            <a:r>
              <a:t>Current data and computation fit within one machine and one GPU.</a:t>
            </a:r>
          </a:p>
        </p:txBody>
      </p:sp>
      <p:sp>
        <p:nvSpPr>
          <p:cNvPr id="4" name="Content-Placeholder-10-5">
            <a:extLst xmlns:a="http://schemas.openxmlformats.org/drawingml/2006/main">
              <a:ext uri="{FF2B5EF4-FFF2-40B4-BE49-F238E27FC236}">
                <a16:creationId xmlns:a16="http://schemas.microsoft.com/office/drawing/2014/main" id="{7847ACC8-703C-40EB-A622-3ACB2516D92E}"/>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Data movement</a:t>
            </a:r>
          </a:p>
          <a:p xmlns:a="http://schemas.openxmlformats.org/drawingml/2006/main">
            <a:pPr algn="l">
              <a:defRPr sz="2400">
                <a:solidFill>
                  <a:srgbClr val="000000"/>
                </a:solidFill>
                <a:latin typeface="Helvetica Neue"/>
                <a:ea typeface="Helvetica Neue"/>
                <a:cs typeface="Helvetica Neue"/>
              </a:defRPr>
            </a:pPr>
            <a:r>
              <a:t>Cross-node PNG transfer, serialization, and networking change the end-to-end model.</a:t>
            </a:r>
          </a:p>
        </p:txBody>
      </p:sp>
      <p:sp>
        <p:nvSpPr>
          <p:cNvPr id="5" name="Content-Placeholder-9-6">
            <a:extLst xmlns:a="http://schemas.openxmlformats.org/drawingml/2006/main">
              <a:ext uri="{FF2B5EF4-FFF2-40B4-BE49-F238E27FC236}">
                <a16:creationId xmlns:a16="http://schemas.microsoft.com/office/drawing/2014/main" id="{C793412E-8FC8-4FE9-987B-46E24A8ED65C}"/>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System complexity</a:t>
            </a:r>
          </a:p>
          <a:p xmlns:a="http://schemas.openxmlformats.org/drawingml/2006/main">
            <a:pPr algn="l">
              <a:defRPr sz="2400">
                <a:solidFill>
                  <a:srgbClr val="000000"/>
                </a:solidFill>
                <a:latin typeface="Helvetica Neue"/>
                <a:ea typeface="Helvetica Neue"/>
                <a:cs typeface="Helvetica Neue"/>
              </a:defRPr>
            </a:pPr>
            <a:r>
              <a:t>Scheduling, fault tolerance, and storage consistency become new research questions.</a:t>
            </a:r>
          </a:p>
        </p:txBody>
      </p:sp>
      <p:sp>
        <p:nvSpPr>
          <p:cNvPr id="6" name="Content-Placeholder-10-7">
            <a:extLst xmlns:a="http://schemas.openxmlformats.org/drawingml/2006/main">
              <a:ext uri="{FF2B5EF4-FFF2-40B4-BE49-F238E27FC236}">
                <a16:creationId xmlns:a16="http://schemas.microsoft.com/office/drawing/2014/main" id="{D188AE41-7C58-40A0-B1A9-A2B5341C4ECB}"/>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Trigger condition</a:t>
            </a:r>
          </a:p>
          <a:p xmlns:a="http://schemas.openxmlformats.org/drawingml/2006/main">
            <a:pPr algn="l">
              <a:defRPr sz="2400">
                <a:solidFill>
                  <a:srgbClr val="000000"/>
                </a:solidFill>
                <a:latin typeface="Helvetica Neue"/>
                <a:ea typeface="Helvetica Neue"/>
                <a:cs typeface="Helvetica Neue"/>
              </a:defRPr>
            </a:pPr>
            <a:r>
              <a:t>Use it when data exceeds one machine or throughput must scale across nodes.</a:t>
            </a:r>
          </a:p>
        </p:txBody>
      </p:sp>
    </p:spTree>
    <p:extLst>
      <p:ext uri="{BB962C8B-B14F-4D97-AF65-F5344CB8AC3E}">
        <p14:creationId xmlns:p14="http://schemas.microsoft.com/office/powerpoint/2010/main" val="20782434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 name="Google-Shape-532-p58-2">
            <a:extLst xmlns:a="http://schemas.openxmlformats.org/drawingml/2006/main">
              <a:ext uri="{FF2B5EF4-FFF2-40B4-BE49-F238E27FC236}">
                <a16:creationId xmlns:a16="http://schemas.microsoft.com/office/drawing/2014/main" id="{119F8734-9631-4B32-B16D-F0B460E34AE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13</a:t>
            </a:r>
          </a:p>
        </p:txBody>
      </p:sp>
      <p:sp>
        <p:nvSpPr>
          <p:cNvPr id="2" name="Google-Shape-533-p58-3">
            <a:extLst xmlns:a="http://schemas.openxmlformats.org/drawingml/2006/main">
              <a:ext uri="{FF2B5EF4-FFF2-40B4-BE49-F238E27FC236}">
                <a16:creationId xmlns:a16="http://schemas.microsoft.com/office/drawing/2014/main" id="{2E8AF0F1-E56E-4234-B5A4-72E6A16FA5B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Live demo: close the experiment loop</a:t>
            </a:r>
          </a:p>
        </p:txBody>
      </p:sp>
      <p:sp>
        <p:nvSpPr>
          <p:cNvPr id="3" name="Picture-3-4-backing">
            <a:extLst xmlns:a="http://schemas.openxmlformats.org/drawingml/2006/main">
              <a:ext uri="{FF2B5EF4-FFF2-40B4-BE49-F238E27FC236}">
                <a16:creationId xmlns:a16="http://schemas.microsoft.com/office/drawing/2014/main" id="{FE3CCAA7-8CA2-4219-AA0B-CC87BD594612}"/>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B9AABFE1-B390-4A33-BD71-FA330CD5FD46}"/>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M1 is the local experiment console</a:t>
            </a:r>
          </a:p>
          <a:p xmlns:a="http://schemas.openxmlformats.org/drawingml/2006/main">
            <a:pPr algn="l">
              <a:defRPr sz="2400">
                <a:solidFill>
                  <a:srgbClr val="000000"/>
                </a:solidFill>
                <a:latin typeface="Helvetica Neue"/>
                <a:ea typeface="Helvetica Neue"/>
                <a:cs typeface="Helvetica Neue"/>
              </a:defRPr>
            </a:pPr>
            <a:r>
              <a:t>Local CLI mode invokes the real C++ executable; Demo mode reads sample data only.
Run a small Sequential + OpenMP matrix, then inspect validation, speedup, and compute vs. end-to-end charts.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8e1d3a226c7494b"/>
          <a:srcRect xmlns:a="http://schemas.openxmlformats.org/drawingml/2006/main" l="14840" t="0" r="14840" b="0"/>
          <a:stretch xmlns:a="http://schemas.openxmlformats.org/drawingml/2006/main">
            <a:fillRect l="0" t="0" r="0" b="0"/>
          </a:stretch>
        </p:blipFill>
        <p:spPr>
          <a:xfrm xmlns:a="http://schemas.openxmlformats.org/drawingml/2006/main">
            <a:off x="6269069" y="396431"/>
            <a:ext cx="5539740" cy="5602034"/>
          </a:xfrm>
          <a:prstGeom xmlns:a="http://schemas.openxmlformats.org/drawingml/2006/main" prst="roundRect">
            <a:avLst>
              <a:gd name="adj" fmla="val 2063"/>
            </a:avLst>
          </a:prstGeom>
        </p:spPr>
      </p:pic>
    </p:spTree>
    <p:extLst>
      <p:ext uri="{BB962C8B-B14F-4D97-AF65-F5344CB8AC3E}">
        <p14:creationId xmlns:p14="http://schemas.microsoft.com/office/powerpoint/2010/main" val="155039133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60E31642-D6D0-40E7-9B9D-C5EF1B885CD2}"/>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Correctness, speedup,
and overhead belong together</a:t>
            </a:r>
          </a:p>
        </p:txBody>
      </p:sp>
      <p:sp>
        <p:nvSpPr>
          <p:cNvPr id="2" name="Subtitle-4-2">
            <a:extLst xmlns:a="http://schemas.openxmlformats.org/drawingml/2006/main">
              <a:ext uri="{FF2B5EF4-FFF2-40B4-BE49-F238E27FC236}">
                <a16:creationId xmlns:a16="http://schemas.microsoft.com/office/drawing/2014/main" id="{ED36E4C9-031C-41AF-8147-D787F9BC2AF4}"/>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OpenMP: granularity</a:t>
            </a:r>
          </a:p>
          <a:p xmlns:a="http://schemas.openxmlformats.org/drawingml/2006/main">
            <a:pPr algn="l">
              <a:defRPr sz="2400">
                <a:solidFill>
                  <a:srgbClr val="000000"/>
                </a:solidFill>
                <a:latin typeface="Helvetica Neue"/>
                <a:ea typeface="Helvetica Neue"/>
                <a:cs typeface="Helvetica Neue"/>
              </a:defRPr>
            </a:pPr>
            <a:r>
              <a:t>CUDA: data movement</a:t>
            </a:r>
          </a:p>
          <a:p xmlns:a="http://schemas.openxmlformats.org/drawingml/2006/main">
            <a:pPr algn="l">
              <a:defRPr sz="2400">
                <a:solidFill>
                  <a:srgbClr val="000000"/>
                </a:solidFill>
                <a:latin typeface="Helvetica Neue"/>
                <a:ea typeface="Helvetica Neue"/>
                <a:cs typeface="Helvetica Neue"/>
              </a:defRPr>
            </a:pPr>
            <a:r>
              <a:t>M8: unified validation</a:t>
            </a:r>
          </a:p>
        </p:txBody>
      </p:sp>
      <p:sp>
        <p:nvSpPr>
          <p:cNvPr id="3" name="Subtitle-4-3">
            <a:extLst xmlns:a="http://schemas.openxmlformats.org/drawingml/2006/main">
              <a:ext uri="{FF2B5EF4-FFF2-40B4-BE49-F238E27FC236}">
                <a16:creationId xmlns:a16="http://schemas.microsoft.com/office/drawing/2014/main" id="{AD394FCA-5424-4EEF-9902-7EFBE27DAA9F}"/>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SUMMARY</a:t>
            </a:r>
          </a:p>
        </p:txBody>
      </p:sp>
    </p:spTree>
    <p:extLst>
      <p:ext uri="{BB962C8B-B14F-4D97-AF65-F5344CB8AC3E}">
        <p14:creationId xmlns:p14="http://schemas.microsoft.com/office/powerpoint/2010/main" val="19265183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2026-07-26T21:25:33.1220000Z</dcterms:created>
  <dcterms:modified xsi:type="dcterms:W3CDTF">2026-07-26T21:25:33.1230000Z</dcterms:modified>
</coreProperties>
</file>